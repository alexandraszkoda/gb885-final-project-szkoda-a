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2021 revenue</c:v>
                </c:pt>
              </c:strCache>
            </c:strRef>
          </c:tx>
          <c:spPr>
            <a:solidFill>
              <a:srgbClr val="12324F"/>
            </a:solidFill>
            <a:effectLst/>
          </c:spPr>
          <c:invertIfNegative val="0"/>
          <c:dLbls>
            <c:numFmt formatCode="$#,##0.0,,&quot;M&quot;" sourceLinked="0"/>
            <c:txPr>
              <a:bodyPr/>
              <a:lstStyle/>
              <a:p>
                <a:pPr>
                  <a:defRPr b="0" i="0" strike="noStrike" sz="1000" u="none">
                    <a:solidFill>
                      <a:srgbClr val="1B2A36"/>
                    </a:solidFill>
                    <a:latin typeface="Calibri"/>
                  </a:defRPr>
                </a:pPr>
              </a:p>
            </c:txPr>
            <c:showLegendKey val="0"/>
            <c:showVal val="1"/>
            <c:showCatName val="0"/>
            <c:showSerName val="0"/>
            <c:showPercent val="0"/>
            <c:showBubbleSize val="0"/>
            <c:showLeaderLines val="0"/>
          </c:dLbls>
          <c:dPt>
            <c:idx val="0"/>
            <c:invertIfNegative val="0"/>
            <c:bubble3D val="0"/>
            <c:spPr>
              <a:solidFill>
                <a:srgbClr val="12324F"/>
              </a:solidFill>
              <a:effectLst/>
            </c:spPr>
          </c:dPt>
          <c:dPt>
            <c:idx val="1"/>
            <c:invertIfNegative val="0"/>
            <c:bubble3D val="0"/>
            <c:spPr>
              <a:solidFill>
                <a:srgbClr val="12324F"/>
              </a:solidFill>
              <a:effectLst/>
            </c:spPr>
          </c:dPt>
          <c:dPt>
            <c:idx val="2"/>
            <c:invertIfNegative val="0"/>
            <c:bubble3D val="0"/>
            <c:spPr>
              <a:solidFill>
                <a:srgbClr val="12324F"/>
              </a:solidFill>
              <a:effectLst/>
            </c:spPr>
          </c:dPt>
          <c:dPt>
            <c:idx val="3"/>
            <c:invertIfNegative val="0"/>
            <c:bubble3D val="0"/>
            <c:spPr>
              <a:solidFill>
                <a:srgbClr val="12324F"/>
              </a:solidFill>
              <a:effectLst/>
            </c:spPr>
          </c:dPt>
          <c:dPt>
            <c:idx val="4"/>
            <c:invertIfNegative val="0"/>
            <c:bubble3D val="0"/>
            <c:spPr>
              <a:solidFill>
                <a:srgbClr val="12324F"/>
              </a:solidFill>
              <a:effectLst/>
            </c:spPr>
          </c:dPt>
          <c:dPt>
            <c:idx val="5"/>
            <c:invertIfNegative val="0"/>
            <c:bubble3D val="0"/>
            <c:spPr>
              <a:solidFill>
                <a:srgbClr val="E4572E"/>
              </a:solidFill>
              <a:effectLst/>
            </c:spPr>
          </c:dPt>
          <c:cat>
            <c:multiLvlStrRef>
              <c:f>Sheet1!$A$2:$A$7</c:f>
              <c:multiLvlStrCache>
                <c:ptCount val="6"/>
                <c:lvl>
                  <c:pt idx="0">
                    <c:v>Women's Athletic Ftwr</c:v>
                  </c:pt>
                  <c:pt idx="1">
                    <c:v>Men's Apparel</c:v>
                  </c:pt>
                  <c:pt idx="2">
                    <c:v>Women's Street Ftwr</c:v>
                  </c:pt>
                  <c:pt idx="3">
                    <c:v>Men's Athletic Ftwr</c:v>
                  </c:pt>
                  <c:pt idx="4">
                    <c:v>Women's Apparel</c:v>
                  </c:pt>
                  <c:pt idx="5">
                    <c:v>Men's Street Ftwr</c:v>
                  </c:pt>
                </c:lvl>
              </c:multiLvlStrCache>
            </c:multiLvlStrRef>
          </c:cat>
          <c:val>
            <c:numRef>
              <c:f>Sheet1!$B$2:$B$7</c:f>
              <c:numCache>
                <c:formatCode>General</c:formatCode>
                <c:ptCount val="6"/>
                <c:pt idx="0">
                  <c:v>11160629</c:v>
                </c:pt>
                <c:pt idx="1">
                  <c:v>13025293</c:v>
                </c:pt>
                <c:pt idx="2">
                  <c:v>13535783</c:v>
                </c:pt>
                <c:pt idx="3">
                  <c:v>16339593</c:v>
                </c:pt>
                <c:pt idx="4">
                  <c:v>19178278</c:v>
                </c:pt>
                <c:pt idx="5">
                  <c:v>22690427</c:v>
                </c:pt>
              </c:numCache>
            </c:numRef>
          </c:val>
        </c:ser>
        <c:dLbls>
          <c:numFmt formatCode="$#,##0.0,,&quot;M&quot;" sourceLinked="0"/>
          <c:txPr>
            <a:bodyPr/>
            <a:lstStyle/>
            <a:p>
              <a:pPr>
                <a:defRPr b="0" i="0" strike="noStrike" sz="1000" u="none">
                  <a:solidFill>
                    <a:srgbClr val="1B2A36"/>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6"/>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889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2020</c:v>
                </c:pt>
              </c:strCache>
            </c:strRef>
          </c:tx>
          <c:spPr>
            <a:solidFill>
              <a:srgbClr val="9AA5AD"/>
            </a:solidFill>
            <a:effectLst/>
          </c:spPr>
          <c:invertIfNegative val="0"/>
          <c:dLbls>
            <c:numFmt formatCode="#,##0" sourceLinked="0"/>
            <c:txPr>
              <a:bodyPr/>
              <a:lstStyle/>
              <a:p>
                <a:pPr>
                  <a:defRPr b="0" i="0" strike="noStrike" sz="1000" u="none">
                    <a:solidFill>
                      <a:srgbClr val="1B2A36"/>
                    </a:solidFill>
                    <a:latin typeface="Calibri"/>
                  </a:defRPr>
                </a:pPr>
              </a:p>
            </c:txPr>
            <c:showLegendKey val="0"/>
            <c:showVal val="0"/>
            <c:showCatName val="0"/>
            <c:showSerName val="0"/>
            <c:showPercent val="0"/>
            <c:showBubbleSize val="0"/>
            <c:showLeaderLines val="0"/>
          </c:dLbls>
          <c:cat>
            <c:multiLvlStrRef>
              <c:f>Sheet1!$A$2:$A$7</c:f>
              <c:multiLvlStrCache>
                <c:ptCount val="6"/>
                <c:lvl>
                  <c:pt idx="0">
                    <c:v>Walmart</c:v>
                  </c:pt>
                  <c:pt idx="1">
                    <c:v>Kohl's</c:v>
                  </c:pt>
                  <c:pt idx="2">
                    <c:v>Amazon</c:v>
                  </c:pt>
                  <c:pt idx="3">
                    <c:v>West Gear</c:v>
                  </c:pt>
                  <c:pt idx="4">
                    <c:v>Sports Direct</c:v>
                  </c:pt>
                  <c:pt idx="5">
                    <c:v>Foot Locker</c:v>
                  </c:pt>
                </c:lvl>
              </c:multiLvlStrCache>
            </c:multiLvlStrRef>
          </c:cat>
          <c:val>
            <c:numRef>
              <c:f>Sheet1!$B$2:$B$7</c:f>
              <c:numCache>
                <c:formatCode>General</c:formatCode>
                <c:ptCount val="6"/>
                <c:pt idx="0">
                  <c:v>0</c:v>
                </c:pt>
                <c:pt idx="1">
                  <c:v>3618731</c:v>
                </c:pt>
                <c:pt idx="2">
                  <c:v>17538150</c:v>
                </c:pt>
                <c:pt idx="3">
                  <c:v>2179209</c:v>
                </c:pt>
                <c:pt idx="4">
                  <c:v>901235</c:v>
                </c:pt>
                <c:pt idx="5">
                  <c:v>0</c:v>
                </c:pt>
              </c:numCache>
            </c:numRef>
          </c:val>
        </c:ser>
        <c:ser>
          <c:idx val="1"/>
          <c:order val="1"/>
          <c:tx>
            <c:strRef>
              <c:f>Sheet1!$C$1</c:f>
              <c:strCache>
                <c:ptCount val="1"/>
                <c:pt idx="0">
                  <c:v>2021</c:v>
                </c:pt>
              </c:strCache>
            </c:strRef>
          </c:tx>
          <c:spPr>
            <a:solidFill>
              <a:srgbClr val="12324F"/>
            </a:solidFill>
            <a:effectLst/>
          </c:spPr>
          <c:invertIfNegative val="0"/>
          <c:dLbls>
            <c:numFmt formatCode="#,##0" sourceLinked="0"/>
            <c:txPr>
              <a:bodyPr/>
              <a:lstStyle/>
              <a:p>
                <a:pPr>
                  <a:defRPr b="0" i="0" strike="noStrike" sz="1000" u="none">
                    <a:solidFill>
                      <a:srgbClr val="1B2A36"/>
                    </a:solidFill>
                    <a:latin typeface="Calibri"/>
                  </a:defRPr>
                </a:pPr>
              </a:p>
            </c:txPr>
            <c:showLegendKey val="0"/>
            <c:showVal val="0"/>
            <c:showCatName val="0"/>
            <c:showSerName val="0"/>
            <c:showPercent val="0"/>
            <c:showBubbleSize val="0"/>
            <c:showLeaderLines val="0"/>
          </c:dLbls>
          <c:cat>
            <c:multiLvlStrRef>
              <c:f>Sheet1!$A$2:$A$7</c:f>
              <c:multiLvlStrCache>
                <c:ptCount val="6"/>
                <c:lvl>
                  <c:pt idx="0">
                    <c:v>Walmart</c:v>
                  </c:pt>
                  <c:pt idx="1">
                    <c:v>Kohl's</c:v>
                  </c:pt>
                  <c:pt idx="2">
                    <c:v>Amazon</c:v>
                  </c:pt>
                  <c:pt idx="3">
                    <c:v>West Gear</c:v>
                  </c:pt>
                  <c:pt idx="4">
                    <c:v>Sports Direct</c:v>
                  </c:pt>
                  <c:pt idx="5">
                    <c:v>Foot Locker</c:v>
                  </c:pt>
                </c:lvl>
              </c:multiLvlStrCache>
            </c:multiLvlStrRef>
          </c:cat>
          <c:val>
            <c:numRef>
              <c:f>Sheet1!$C$2:$C$7</c:f>
              <c:numCache>
                <c:formatCode>General</c:formatCode>
                <c:ptCount val="6"/>
                <c:pt idx="0">
                  <c:v>2256523</c:v>
                </c:pt>
                <c:pt idx="1">
                  <c:v>7234082</c:v>
                </c:pt>
                <c:pt idx="2">
                  <c:v>10487475</c:v>
                </c:pt>
                <c:pt idx="3">
                  <c:v>10648564</c:v>
                </c:pt>
                <c:pt idx="4">
                  <c:v>11639054</c:v>
                </c:pt>
                <c:pt idx="5">
                  <c:v>53646425</c:v>
                </c:pt>
              </c:numCache>
            </c:numRef>
          </c:val>
        </c:ser>
        <c:dLbls>
          <c:numFmt formatCode="#,##0" sourceLinked="0"/>
          <c:txPr>
            <a:bodyPr/>
            <a:lstStyle/>
            <a:p>
              <a:pPr>
                <a:defRPr b="0" i="0" strike="noStrike" sz="1000" u="none">
                  <a:solidFill>
                    <a:srgbClr val="1B2A36"/>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6"/>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3E8EB"/>
              </a:solidFill>
              <a:prstDash val="solid"/>
              <a:round/>
            </a:ln>
          </c:spPr>
        </c:majorGridlines>
        <c:numFmt formatCode="$#,##0,,&quot;M&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889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3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In-store</c:v>
                </c:pt>
              </c:strCache>
            </c:strRef>
          </c:tx>
          <c:spPr>
            <a:solidFill>
              <a:srgbClr val="9AA5AD"/>
            </a:solidFill>
            <a:effectLst/>
          </c:spPr>
          <c:invertIfNegative val="0"/>
          <c:dLbls>
            <c:numFmt formatCode="0&quot;%&quot;"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2020</c:v>
                  </c:pt>
                  <c:pt idx="1">
                    <c:v>2021</c:v>
                  </c:pt>
                </c:lvl>
              </c:multiLvlStrCache>
            </c:multiLvlStrRef>
          </c:cat>
          <c:val>
            <c:numRef>
              <c:f>Sheet1!$B$2:$B$3</c:f>
              <c:numCache>
                <c:formatCode>General</c:formatCode>
                <c:ptCount val="2"/>
                <c:pt idx="0">
                  <c:v>38.7</c:v>
                </c:pt>
                <c:pt idx="1">
                  <c:v>27.4</c:v>
                </c:pt>
              </c:numCache>
            </c:numRef>
          </c:val>
        </c:ser>
        <c:ser>
          <c:idx val="1"/>
          <c:order val="1"/>
          <c:tx>
            <c:strRef>
              <c:f>Sheet1!$C$1</c:f>
              <c:strCache>
                <c:ptCount val="1"/>
                <c:pt idx="0">
                  <c:v>Outlet</c:v>
                </c:pt>
              </c:strCache>
            </c:strRef>
          </c:tx>
          <c:spPr>
            <a:solidFill>
              <a:srgbClr val="3F7CAC"/>
            </a:solidFill>
            <a:effectLst/>
          </c:spPr>
          <c:invertIfNegative val="0"/>
          <c:dLbls>
            <c:numFmt formatCode="0&quot;%&quot;"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2020</c:v>
                  </c:pt>
                  <c:pt idx="1">
                    <c:v>2021</c:v>
                  </c:pt>
                </c:lvl>
              </c:multiLvlStrCache>
            </c:multiLvlStrRef>
          </c:cat>
          <c:val>
            <c:numRef>
              <c:f>Sheet1!$C$2:$C$3</c:f>
              <c:numCache>
                <c:formatCode>General</c:formatCode>
                <c:ptCount val="2"/>
                <c:pt idx="0">
                  <c:v>42.6</c:v>
                </c:pt>
                <c:pt idx="1">
                  <c:v>30.4</c:v>
                </c:pt>
              </c:numCache>
            </c:numRef>
          </c:val>
        </c:ser>
        <c:ser>
          <c:idx val="2"/>
          <c:order val="2"/>
          <c:tx>
            <c:strRef>
              <c:f>Sheet1!$D$1</c:f>
              <c:strCache>
                <c:ptCount val="1"/>
                <c:pt idx="0">
                  <c:v>Online</c:v>
                </c:pt>
              </c:strCache>
            </c:strRef>
          </c:tx>
          <c:spPr>
            <a:solidFill>
              <a:srgbClr val="E4572E"/>
            </a:solidFill>
            <a:effectLst/>
          </c:spPr>
          <c:invertIfNegative val="0"/>
          <c:dLbls>
            <c:numFmt formatCode="0&quot;%&quot;"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2020</c:v>
                  </c:pt>
                  <c:pt idx="1">
                    <c:v>2021</c:v>
                  </c:pt>
                </c:lvl>
              </c:multiLvlStrCache>
            </c:multiLvlStrRef>
          </c:cat>
          <c:val>
            <c:numRef>
              <c:f>Sheet1!$D$2:$D$3</c:f>
              <c:numCache>
                <c:formatCode>General</c:formatCode>
                <c:ptCount val="2"/>
                <c:pt idx="0">
                  <c:v>18.6</c:v>
                </c:pt>
                <c:pt idx="1">
                  <c:v>42.2</c:v>
                </c:pt>
              </c:numCache>
            </c:numRef>
          </c:val>
        </c:ser>
        <c:dLbls>
          <c:numFmt formatCode="0&quot;%&quot;"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9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6"/>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12700"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889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3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Operating margin</c:v>
                </c:pt>
              </c:strCache>
            </c:strRef>
          </c:tx>
          <c:spPr>
            <a:solidFill>
              <a:srgbClr val="9AA5AD"/>
            </a:solidFill>
            <a:effectLst/>
          </c:spPr>
          <c:invertIfNegative val="0"/>
          <c:dLbls>
            <c:numFmt formatCode="0.0&quot;%&quot;" sourceLinked="0"/>
            <c:txPr>
              <a:bodyPr/>
              <a:lstStyle/>
              <a:p>
                <a:pPr>
                  <a:defRPr b="0" i="0" strike="noStrike" sz="1000" u="none">
                    <a:solidFill>
                      <a:srgbClr val="1B2A36"/>
                    </a:solidFill>
                    <a:latin typeface="Calibri"/>
                  </a:defRPr>
                </a:pPr>
              </a:p>
            </c:txPr>
            <c:showLegendKey val="0"/>
            <c:showVal val="1"/>
            <c:showCatName val="0"/>
            <c:showSerName val="0"/>
            <c:showPercent val="0"/>
            <c:showBubbleSize val="0"/>
            <c:showLeaderLines val="0"/>
          </c:dLbls>
          <c:dPt>
            <c:idx val="0"/>
            <c:invertIfNegative val="0"/>
            <c:bubble3D val="0"/>
            <c:spPr>
              <a:solidFill>
                <a:srgbClr val="9AA5AD"/>
              </a:solidFill>
              <a:effectLst/>
            </c:spPr>
          </c:dPt>
          <c:dPt>
            <c:idx val="1"/>
            <c:invertIfNegative val="0"/>
            <c:bubble3D val="0"/>
            <c:spPr>
              <a:solidFill>
                <a:srgbClr val="3F7CAC"/>
              </a:solidFill>
              <a:effectLst/>
            </c:spPr>
          </c:dPt>
          <c:dPt>
            <c:idx val="2"/>
            <c:invertIfNegative val="0"/>
            <c:bubble3D val="0"/>
            <c:spPr>
              <a:solidFill>
                <a:srgbClr val="E4572E"/>
              </a:solidFill>
              <a:effectLst/>
            </c:spPr>
          </c:dPt>
          <c:cat>
            <c:multiLvlStrRef>
              <c:f>Sheet1!$A$2:$A$4</c:f>
              <c:multiLvlStrCache>
                <c:ptCount val="3"/>
                <c:lvl>
                  <c:pt idx="0">
                    <c:v>In-store</c:v>
                  </c:pt>
                  <c:pt idx="1">
                    <c:v>Outlet</c:v>
                  </c:pt>
                  <c:pt idx="2">
                    <c:v>Online</c:v>
                  </c:pt>
                </c:lvl>
              </c:multiLvlStrCache>
            </c:multiLvlStrRef>
          </c:cat>
          <c:val>
            <c:numRef>
              <c:f>Sheet1!$B$2:$B$4</c:f>
              <c:numCache>
                <c:formatCode>General</c:formatCode>
                <c:ptCount val="3"/>
                <c:pt idx="0">
                  <c:v>35.6</c:v>
                </c:pt>
                <c:pt idx="1">
                  <c:v>39.5</c:v>
                </c:pt>
                <c:pt idx="2">
                  <c:v>46.4</c:v>
                </c:pt>
              </c:numCache>
            </c:numRef>
          </c:val>
        </c:ser>
        <c:dLbls>
          <c:numFmt formatCode="0.0&quot;%&quot;" sourceLinked="0"/>
          <c:txPr>
            <a:bodyPr/>
            <a:lstStyle/>
            <a:p>
              <a:pPr>
                <a:defRPr b="0" i="0" strike="noStrike" sz="1000" u="none">
                  <a:solidFill>
                    <a:srgbClr val="1B2A36"/>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6"/>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889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2020</c:v>
                </c:pt>
              </c:strCache>
            </c:strRef>
          </c:tx>
          <c:spPr>
            <a:solidFill>
              <a:srgbClr val="9AA5AD"/>
            </a:solidFill>
            <a:ln w="38100" cap="flat">
              <a:solidFill>
                <a:srgbClr val="9AA5AD"/>
              </a:solidFill>
              <a:prstDash val="solid"/>
              <a:round/>
            </a:ln>
            <a:effectLst/>
          </c:spPr>
          <c:invertIfNegative val="0"/>
          <c:dLbls>
            <c:numFmt formatCode="#,##0" sourceLinked="0"/>
            <c:txPr>
              <a:bodyPr/>
              <a:lstStyle/>
              <a:p>
                <a:pPr>
                  <a:defRPr b="0" i="0" strike="noStrike" sz="1000" u="none">
                    <a:solidFill>
                      <a:srgbClr val="1B2A36"/>
                    </a:solidFill>
                    <a:latin typeface="Calibri"/>
                  </a:defRPr>
                </a:pPr>
              </a:p>
            </c:txPr>
            <c:showLegendKey val="0"/>
            <c:showVal val="0"/>
            <c:showCatName val="0"/>
            <c:showSerName val="0"/>
            <c:showPercent val="0"/>
            <c:showBubbleSize val="0"/>
            <c:showLeaderLines val="0"/>
          </c:dLbls>
          <c:marker>
            <c:symbol val="circle"/>
            <c:size val="6"/>
            <c:spPr>
              <a:solidFill>
                <a:srgbClr val="9AA5AD"/>
              </a:solidFill>
              <a:ln w="9525" cap="flat">
                <a:solidFill>
                  <a:srgbClr val="9AA5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2312746</c:v>
                </c:pt>
                <c:pt idx="1">
                  <c:v>2140813</c:v>
                </c:pt>
                <c:pt idx="2">
                  <c:v>2474202</c:v>
                </c:pt>
                <c:pt idx="3">
                  <c:v>3193081</c:v>
                </c:pt>
                <c:pt idx="4">
                  <c:v>2164764</c:v>
                </c:pt>
                <c:pt idx="5">
                  <c:v>1084194</c:v>
                </c:pt>
                <c:pt idx="6">
                  <c:v>2182388</c:v>
                </c:pt>
                <c:pt idx="7">
                  <c:v>2641630</c:v>
                </c:pt>
                <c:pt idx="8">
                  <c:v>2367686</c:v>
                </c:pt>
                <c:pt idx="9">
                  <c:v>1428569</c:v>
                </c:pt>
                <c:pt idx="10">
                  <c:v>1168050</c:v>
                </c:pt>
                <c:pt idx="11">
                  <c:v>1079202</c:v>
                </c:pt>
              </c:numCache>
            </c:numRef>
          </c:val>
          <c:smooth val="0"/>
        </c:ser>
        <c:ser>
          <c:idx val="1"/>
          <c:order val="1"/>
          <c:tx>
            <c:strRef>
              <c:f>Sheet1!$C$1</c:f>
              <c:strCache>
                <c:ptCount val="1"/>
                <c:pt idx="0">
                  <c:v>2021</c:v>
                </c:pt>
              </c:strCache>
            </c:strRef>
          </c:tx>
          <c:spPr>
            <a:solidFill>
              <a:srgbClr val="12324F"/>
            </a:solidFill>
            <a:ln w="38100" cap="flat">
              <a:solidFill>
                <a:srgbClr val="12324F"/>
              </a:solidFill>
              <a:prstDash val="solid"/>
              <a:round/>
            </a:ln>
            <a:effectLst/>
          </c:spPr>
          <c:invertIfNegative val="0"/>
          <c:dLbls>
            <c:numFmt formatCode="#,##0" sourceLinked="0"/>
            <c:txPr>
              <a:bodyPr/>
              <a:lstStyle/>
              <a:p>
                <a:pPr>
                  <a:defRPr b="0" i="0" strike="noStrike" sz="1000" u="none">
                    <a:solidFill>
                      <a:srgbClr val="1B2A36"/>
                    </a:solidFill>
                    <a:latin typeface="Calibri"/>
                  </a:defRPr>
                </a:pPr>
              </a:p>
            </c:txPr>
            <c:showLegendKey val="0"/>
            <c:showVal val="0"/>
            <c:showCatName val="0"/>
            <c:showSerName val="0"/>
            <c:showPercent val="0"/>
            <c:showBubbleSize val="0"/>
            <c:showLeaderLines val="0"/>
          </c:dLbls>
          <c:marker>
            <c:symbol val="circle"/>
            <c:size val="6"/>
            <c:spPr>
              <a:solidFill>
                <a:srgbClr val="12324F"/>
              </a:solidFill>
              <a:ln w="9525" cap="flat">
                <a:solidFill>
                  <a:srgbClr val="12324F"/>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7432021</c:v>
                </c:pt>
                <c:pt idx="1">
                  <c:v>6123040</c:v>
                </c:pt>
                <c:pt idx="2">
                  <c:v>5220782</c:v>
                </c:pt>
                <c:pt idx="3">
                  <c:v>6498339</c:v>
                </c:pt>
                <c:pt idx="4">
                  <c:v>8577721</c:v>
                </c:pt>
                <c:pt idx="5">
                  <c:v>8718953</c:v>
                </c:pt>
                <c:pt idx="6">
                  <c:v>10368031</c:v>
                </c:pt>
                <c:pt idx="7">
                  <c:v>9651596</c:v>
                </c:pt>
                <c:pt idx="8">
                  <c:v>8037898</c:v>
                </c:pt>
                <c:pt idx="9">
                  <c:v>7110189</c:v>
                </c:pt>
                <c:pt idx="10">
                  <c:v>7855390</c:v>
                </c:pt>
                <c:pt idx="11">
                  <c:v>10336043</c:v>
                </c:pt>
              </c:numCache>
            </c:numRef>
          </c:val>
          <c:smooth val="0"/>
        </c:ser>
        <c:dLbls>
          <c:numFmt formatCode="#,##0" sourceLinked="0"/>
          <c:txPr>
            <a:bodyPr/>
            <a:lstStyle/>
            <a:p>
              <a:pPr>
                <a:defRPr b="0" i="0" strike="noStrike" sz="1000" u="none">
                  <a:solidFill>
                    <a:srgbClr val="1B2A36"/>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6"/>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EB"/>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889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3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pulled the 2020 and 2021 sales data, cleaned it, and I want to give you the four answers you asked for plus three things I think matter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95.9 million in 2021, up from 24.2. Nearly 4x. Margin improved at the same time, 37.2 to 39.8. But the growth is a distribution story, not a demand story —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four questions. Men's Street Footwear, 22.7 million. Maine for women's, 2.18 million. Delaware for men's, 2.33 million. Foot Locker bought the most units in 2021, Amazon in 2020. One caveat on states 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 Street Footwear is the flagship — number one in every channel. Men's lines are 54% of revenue, but women's apparel already out-sells three men's categories. The product mix is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growth story. Foot Locker and Walmart did zero business with us in 2020 and delivered 55.9 million in 2021 — 78% of our growth. But look at Amazon: down 40%, from 17.5 to 10.5. It was our biggest account last year and it's the only one shrinking. That needs an account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mix. Online went from 19% of revenue to 42% — a 35.9 million dollar swing. And online carries our best operating margin, 46.4 versus 35.6 in-store. Fastest growing and most profitable is a rare combination. Mix shift alone explains most of the margin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Seasonality. Don't plan on 2020 — it peaked in April and bottomed in June, which is store closures, not customers. 2021 is a normal curve: July and December peaks, March trough, 56% of the year in the second half. Build the 2022 calendar on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risks. First, 56% of revenue goes through Foot Locker — one account. Second, the top states are Maine, Delaware and New Hampshire, three of the smallest states in the country. They rank first because of where our partners operate, not market size. Maine is basically one Amazon location. And the South and Southeast give us our best margins on our lowest revenue — that's where the room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actions. Review Amazon. Push online. Expand Walmart past six states. Plan 2022 on the 2021 curve. And fix the retailer ID scheme — it produces duplicate keys, which is a reporting risk as we add partners.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13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138"/>
          </a:solidFill>
          <a:ln/>
        </p:spPr>
      </p:sp>
      <p:sp>
        <p:nvSpPr>
          <p:cNvPr id="3" name="Shape 1"/>
          <p:cNvSpPr/>
          <p:nvPr/>
        </p:nvSpPr>
        <p:spPr>
          <a:xfrm>
            <a:off x="8595360" y="-1463040"/>
            <a:ext cx="5669280" cy="5669280"/>
          </a:xfrm>
          <a:prstGeom prst="ellipse">
            <a:avLst/>
          </a:prstGeom>
          <a:solidFill>
            <a:srgbClr val="12324F">
              <a:alpha val="70000"/>
            </a:srgbClr>
          </a:solidFill>
          <a:ln/>
        </p:spPr>
      </p:sp>
      <p:sp>
        <p:nvSpPr>
          <p:cNvPr id="4" name="Shape 2"/>
          <p:cNvSpPr/>
          <p:nvPr/>
        </p:nvSpPr>
        <p:spPr>
          <a:xfrm>
            <a:off x="10058400" y="3291840"/>
            <a:ext cx="3108960" cy="3108960"/>
          </a:xfrm>
          <a:prstGeom prst="ellipse">
            <a:avLst/>
          </a:prstGeom>
          <a:solidFill>
            <a:srgbClr val="E4572E">
              <a:alpha val="45000"/>
            </a:srgbClr>
          </a:solidFill>
          <a:ln/>
        </p:spPr>
      </p:sp>
      <p:sp>
        <p:nvSpPr>
          <p:cNvPr id="5" name="Text 3"/>
          <p:cNvSpPr/>
          <p:nvPr/>
        </p:nvSpPr>
        <p:spPr>
          <a:xfrm>
            <a:off x="822960" y="1371600"/>
            <a:ext cx="5486400" cy="640080"/>
          </a:xfrm>
          <a:prstGeom prst="rect">
            <a:avLst/>
          </a:prstGeom>
          <a:noFill/>
          <a:ln/>
        </p:spPr>
        <p:txBody>
          <a:bodyPr wrap="square" lIns="0" tIns="0" rIns="0" bIns="0" rtlCol="0" anchor="ctr"/>
          <a:lstStyle/>
          <a:p>
            <a:pPr indent="0" marL="0">
              <a:buNone/>
            </a:pPr>
            <a:r>
              <a:rPr lang="en-US" sz="3000" b="1" spc="600" kern="0" dirty="0">
                <a:solidFill>
                  <a:srgbClr val="FFFFFF"/>
                </a:solidFill>
                <a:latin typeface="Cambria" pitchFamily="34" charset="0"/>
                <a:ea typeface="Cambria" pitchFamily="34" charset="-122"/>
                <a:cs typeface="Cambria" pitchFamily="34" charset="-120"/>
              </a:rPr>
              <a:t>RUSH</a:t>
            </a:r>
            <a:endParaRPr lang="en-US" sz="3000" dirty="0"/>
          </a:p>
        </p:txBody>
      </p:sp>
      <p:sp>
        <p:nvSpPr>
          <p:cNvPr id="6" name="Text 4"/>
          <p:cNvSpPr/>
          <p:nvPr/>
        </p:nvSpPr>
        <p:spPr>
          <a:xfrm>
            <a:off x="822960" y="2148840"/>
            <a:ext cx="76809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US Sales Review</a:t>
            </a:r>
            <a:endParaRPr lang="en-US" sz="4800" dirty="0"/>
          </a:p>
        </p:txBody>
      </p:sp>
      <p:sp>
        <p:nvSpPr>
          <p:cNvPr id="7" name="Text 5"/>
          <p:cNvSpPr/>
          <p:nvPr/>
        </p:nvSpPr>
        <p:spPr>
          <a:xfrm>
            <a:off x="822960" y="3154680"/>
            <a:ext cx="7315200" cy="731520"/>
          </a:xfrm>
          <a:prstGeom prst="rect">
            <a:avLst/>
          </a:prstGeom>
          <a:noFill/>
          <a:ln/>
        </p:spPr>
        <p:txBody>
          <a:bodyPr wrap="square" lIns="0" tIns="0" rIns="0" bIns="0" rtlCol="0" anchor="ctr"/>
          <a:lstStyle/>
          <a:p>
            <a:pPr indent="0" marL="0">
              <a:buNone/>
            </a:pPr>
            <a:r>
              <a:rPr lang="en-US" sz="1800" dirty="0">
                <a:solidFill>
                  <a:srgbClr val="C7D3DC"/>
                </a:solidFill>
                <a:latin typeface="Calibri" pitchFamily="34" charset="0"/>
                <a:ea typeface="Calibri" pitchFamily="34" charset="-122"/>
                <a:cs typeface="Calibri" pitchFamily="34" charset="-120"/>
              </a:rPr>
              <a:t>FY2021 performance, trends, and where the growth is coming from</a:t>
            </a:r>
            <a:endParaRPr lang="en-US" sz="1800" dirty="0"/>
          </a:p>
        </p:txBody>
      </p:sp>
      <p:sp>
        <p:nvSpPr>
          <p:cNvPr id="8" name="Shape 6"/>
          <p:cNvSpPr/>
          <p:nvPr/>
        </p:nvSpPr>
        <p:spPr>
          <a:xfrm>
            <a:off x="822960" y="4114800"/>
            <a:ext cx="1005840" cy="45720"/>
          </a:xfrm>
          <a:prstGeom prst="rect">
            <a:avLst/>
          </a:prstGeom>
          <a:solidFill>
            <a:srgbClr val="E4572E"/>
          </a:solidFill>
          <a:ln/>
        </p:spPr>
      </p:sp>
      <p:sp>
        <p:nvSpPr>
          <p:cNvPr id="9" name="Text 7"/>
          <p:cNvSpPr/>
          <p:nvPr/>
        </p:nvSpPr>
        <p:spPr>
          <a:xfrm>
            <a:off x="822960" y="4434840"/>
            <a:ext cx="7680960" cy="822960"/>
          </a:xfrm>
          <a:prstGeom prst="rect">
            <a:avLst/>
          </a:prstGeom>
          <a:noFill/>
          <a:ln/>
        </p:spPr>
        <p:txBody>
          <a:bodyPr wrap="square" lIns="0" tIns="0" rIns="0" bIns="0" rtlCol="0" anchor="ctr"/>
          <a:lstStyle/>
          <a:p>
            <a:pPr indent="0" marL="0">
              <a:buNone/>
            </a:pPr>
            <a:r>
              <a:rPr lang="en-US" sz="1300" b="1" dirty="0">
                <a:solidFill>
                  <a:srgbClr val="9FB3C2"/>
                </a:solidFill>
                <a:latin typeface="Calibri" pitchFamily="34" charset="0"/>
                <a:ea typeface="Calibri" pitchFamily="34" charset="-122"/>
                <a:cs typeface="Calibri" pitchFamily="34" charset="-120"/>
              </a:rPr>
              <a:t>Prepared for the VP of US Sales</a:t>
            </a:r>
            <a:endParaRPr lang="en-US" sz="1300" dirty="0"/>
          </a:p>
          <a:p>
            <a:pPr indent="0" marL="0">
              <a:buNone/>
            </a:pPr>
            <a:r>
              <a:rPr lang="en-US" sz="1300" dirty="0">
                <a:solidFill>
                  <a:srgbClr val="9FB3C2"/>
                </a:solidFill>
                <a:latin typeface="Calibri" pitchFamily="34" charset="0"/>
                <a:ea typeface="Calibri" pitchFamily="34" charset="-122"/>
                <a:cs typeface="Calibri" pitchFamily="34" charset="-120"/>
              </a:rPr>
              <a:t>Sales Analytics  ·  Source: TABLE_SALES, TABLE_RETAILER, TABLE_PRODUCTS (2020–2021)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2324F"/>
                </a:solidFill>
                <a:latin typeface="Cambria" pitchFamily="34" charset="0"/>
                <a:ea typeface="Cambria" pitchFamily="34" charset="-122"/>
                <a:cs typeface="Cambria" pitchFamily="34" charset="-120"/>
              </a:rPr>
              <a:t>FY2021 at a glance</a:t>
            </a:r>
            <a:endParaRPr lang="en-US" sz="3400" dirty="0"/>
          </a:p>
        </p:txBody>
      </p:sp>
      <p:sp>
        <p:nvSpPr>
          <p:cNvPr id="3" name="Text 1"/>
          <p:cNvSpPr/>
          <p:nvPr/>
        </p:nvSpPr>
        <p:spPr>
          <a:xfrm>
            <a:off x="548640" y="1143000"/>
            <a:ext cx="11064240" cy="365760"/>
          </a:xfrm>
          <a:prstGeom prst="rect">
            <a:avLst/>
          </a:prstGeom>
          <a:noFill/>
          <a:ln/>
        </p:spPr>
        <p:txBody>
          <a:bodyPr wrap="square" lIns="0" tIns="0" rIns="0" bIns="0" rtlCol="0" anchor="ctr"/>
          <a:lstStyle/>
          <a:p>
            <a:pPr indent="0" marL="0">
              <a:buNone/>
            </a:pPr>
            <a:r>
              <a:rPr lang="en-US" sz="1600" dirty="0">
                <a:solidFill>
                  <a:srgbClr val="5A6B78"/>
                </a:solidFill>
                <a:latin typeface="Calibri" pitchFamily="34" charset="0"/>
                <a:ea typeface="Calibri" pitchFamily="34" charset="-122"/>
                <a:cs typeface="Calibri" pitchFamily="34" charset="-120"/>
              </a:rPr>
              <a:t>Revenue nearly quadrupled — and margin improved at the same time</a:t>
            </a:r>
            <a:endParaRPr lang="en-US" sz="1600" dirty="0"/>
          </a:p>
        </p:txBody>
      </p:sp>
      <p:sp>
        <p:nvSpPr>
          <p:cNvPr id="4" name="Shape 2"/>
          <p:cNvSpPr/>
          <p:nvPr/>
        </p:nvSpPr>
        <p:spPr>
          <a:xfrm>
            <a:off x="548640" y="1783080"/>
            <a:ext cx="2606040" cy="2103120"/>
          </a:xfrm>
          <a:prstGeom prst="roundRect">
            <a:avLst>
              <a:gd name="adj" fmla="val 4348"/>
            </a:avLst>
          </a:prstGeom>
          <a:solidFill>
            <a:srgbClr val="F4F6F7"/>
          </a:solidFill>
          <a:ln/>
          <a:effectLst>
            <a:outerShdw sx="100000" sy="100000" kx="0" ky="0" algn="bl" rotWithShape="0" blurRad="101600" dist="12700" dir="5400000">
              <a:srgbClr val="B9C4CB">
                <a:alpha val="35000"/>
              </a:srgbClr>
            </a:outerShdw>
          </a:effectLst>
        </p:spPr>
      </p:sp>
      <p:sp>
        <p:nvSpPr>
          <p:cNvPr id="5" name="Text 3"/>
          <p:cNvSpPr/>
          <p:nvPr/>
        </p:nvSpPr>
        <p:spPr>
          <a:xfrm>
            <a:off x="749808" y="2011680"/>
            <a:ext cx="2194560" cy="822960"/>
          </a:xfrm>
          <a:prstGeom prst="rect">
            <a:avLst/>
          </a:prstGeom>
          <a:noFill/>
          <a:ln/>
        </p:spPr>
        <p:txBody>
          <a:bodyPr wrap="square" lIns="0" tIns="0" rIns="0" bIns="0" rtlCol="0" anchor="ctr"/>
          <a:lstStyle/>
          <a:p>
            <a:pPr indent="0" marL="0">
              <a:buNone/>
            </a:pPr>
            <a:r>
              <a:rPr lang="en-US" sz="4000" b="1" dirty="0">
                <a:solidFill>
                  <a:srgbClr val="12324F"/>
                </a:solidFill>
                <a:latin typeface="Cambria" pitchFamily="34" charset="0"/>
                <a:ea typeface="Cambria" pitchFamily="34" charset="-122"/>
                <a:cs typeface="Cambria" pitchFamily="34" charset="-120"/>
              </a:rPr>
              <a:t>$95.9M</a:t>
            </a:r>
            <a:endParaRPr lang="en-US" sz="4000" dirty="0"/>
          </a:p>
        </p:txBody>
      </p:sp>
      <p:sp>
        <p:nvSpPr>
          <p:cNvPr id="6" name="Text 4"/>
          <p:cNvSpPr/>
          <p:nvPr/>
        </p:nvSpPr>
        <p:spPr>
          <a:xfrm>
            <a:off x="749808" y="2834640"/>
            <a:ext cx="2194560" cy="320040"/>
          </a:xfrm>
          <a:prstGeom prst="rect">
            <a:avLst/>
          </a:prstGeom>
          <a:noFill/>
          <a:ln/>
        </p:spPr>
        <p:txBody>
          <a:bodyPr wrap="square" lIns="0" tIns="0" rIns="0" bIns="0" rtlCol="0" anchor="ctr"/>
          <a:lstStyle/>
          <a:p>
            <a:pPr indent="0" marL="0">
              <a:buNone/>
            </a:pPr>
            <a:r>
              <a:rPr lang="en-US" sz="1300" b="1" dirty="0">
                <a:solidFill>
                  <a:srgbClr val="1B2A36"/>
                </a:solidFill>
                <a:latin typeface="Calibri" pitchFamily="34" charset="0"/>
                <a:ea typeface="Calibri" pitchFamily="34" charset="-122"/>
                <a:cs typeface="Calibri" pitchFamily="34" charset="-120"/>
              </a:rPr>
              <a:t>2021 revenue</a:t>
            </a:r>
            <a:endParaRPr lang="en-US" sz="1300" dirty="0"/>
          </a:p>
        </p:txBody>
      </p:sp>
      <p:sp>
        <p:nvSpPr>
          <p:cNvPr id="7" name="Text 5"/>
          <p:cNvSpPr/>
          <p:nvPr/>
        </p:nvSpPr>
        <p:spPr>
          <a:xfrm>
            <a:off x="749808" y="3154680"/>
            <a:ext cx="2286000" cy="457200"/>
          </a:xfrm>
          <a:prstGeom prst="rect">
            <a:avLst/>
          </a:prstGeom>
          <a:noFill/>
          <a:ln/>
        </p:spPr>
        <p:txBody>
          <a:bodyPr wrap="square" lIns="0" tIns="0" rIns="0" bIns="0" rtlCol="0" anchor="ctr"/>
          <a:lstStyle/>
          <a:p>
            <a:pPr indent="0" marL="0">
              <a:buNone/>
            </a:pPr>
            <a:r>
              <a:rPr lang="en-US" sz="1100" dirty="0">
                <a:solidFill>
                  <a:srgbClr val="6E8898"/>
                </a:solidFill>
                <a:latin typeface="Calibri" pitchFamily="34" charset="0"/>
                <a:ea typeface="Calibri" pitchFamily="34" charset="-122"/>
                <a:cs typeface="Calibri" pitchFamily="34" charset="-120"/>
              </a:rPr>
              <a:t>from $24.2M in 2020</a:t>
            </a:r>
            <a:endParaRPr lang="en-US" sz="1100" dirty="0"/>
          </a:p>
        </p:txBody>
      </p:sp>
      <p:sp>
        <p:nvSpPr>
          <p:cNvPr id="8" name="Shape 6"/>
          <p:cNvSpPr/>
          <p:nvPr/>
        </p:nvSpPr>
        <p:spPr>
          <a:xfrm>
            <a:off x="3401568" y="1783080"/>
            <a:ext cx="2606040" cy="2103120"/>
          </a:xfrm>
          <a:prstGeom prst="roundRect">
            <a:avLst>
              <a:gd name="adj" fmla="val 4348"/>
            </a:avLst>
          </a:prstGeom>
          <a:solidFill>
            <a:srgbClr val="F4F6F7"/>
          </a:solidFill>
          <a:ln/>
          <a:effectLst>
            <a:outerShdw sx="100000" sy="100000" kx="0" ky="0" algn="bl" rotWithShape="0" blurRad="101600" dist="12700" dir="5400000">
              <a:srgbClr val="B9C4CB">
                <a:alpha val="35000"/>
              </a:srgbClr>
            </a:outerShdw>
          </a:effectLst>
        </p:spPr>
      </p:sp>
      <p:sp>
        <p:nvSpPr>
          <p:cNvPr id="9" name="Text 7"/>
          <p:cNvSpPr/>
          <p:nvPr/>
        </p:nvSpPr>
        <p:spPr>
          <a:xfrm>
            <a:off x="3602736" y="2011680"/>
            <a:ext cx="2194560" cy="822960"/>
          </a:xfrm>
          <a:prstGeom prst="rect">
            <a:avLst/>
          </a:prstGeom>
          <a:noFill/>
          <a:ln/>
        </p:spPr>
        <p:txBody>
          <a:bodyPr wrap="square" lIns="0" tIns="0" rIns="0" bIns="0"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+296%</a:t>
            </a:r>
            <a:endParaRPr lang="en-US" sz="4000" dirty="0"/>
          </a:p>
        </p:txBody>
      </p:sp>
      <p:sp>
        <p:nvSpPr>
          <p:cNvPr id="10" name="Text 8"/>
          <p:cNvSpPr/>
          <p:nvPr/>
        </p:nvSpPr>
        <p:spPr>
          <a:xfrm>
            <a:off x="3602736" y="2834640"/>
            <a:ext cx="2194560" cy="320040"/>
          </a:xfrm>
          <a:prstGeom prst="rect">
            <a:avLst/>
          </a:prstGeom>
          <a:noFill/>
          <a:ln/>
        </p:spPr>
        <p:txBody>
          <a:bodyPr wrap="square" lIns="0" tIns="0" rIns="0" bIns="0" rtlCol="0" anchor="ctr"/>
          <a:lstStyle/>
          <a:p>
            <a:pPr indent="0" marL="0">
              <a:buNone/>
            </a:pPr>
            <a:r>
              <a:rPr lang="en-US" sz="1300" b="1" dirty="0">
                <a:solidFill>
                  <a:srgbClr val="1B2A36"/>
                </a:solidFill>
                <a:latin typeface="Calibri" pitchFamily="34" charset="0"/>
                <a:ea typeface="Calibri" pitchFamily="34" charset="-122"/>
                <a:cs typeface="Calibri" pitchFamily="34" charset="-120"/>
              </a:rPr>
              <a:t>year-over-year growth</a:t>
            </a:r>
            <a:endParaRPr lang="en-US" sz="1300" dirty="0"/>
          </a:p>
        </p:txBody>
      </p:sp>
      <p:sp>
        <p:nvSpPr>
          <p:cNvPr id="11" name="Text 9"/>
          <p:cNvSpPr/>
          <p:nvPr/>
        </p:nvSpPr>
        <p:spPr>
          <a:xfrm>
            <a:off x="3602736" y="3154680"/>
            <a:ext cx="2286000" cy="457200"/>
          </a:xfrm>
          <a:prstGeom prst="rect">
            <a:avLst/>
          </a:prstGeom>
          <a:noFill/>
          <a:ln/>
        </p:spPr>
        <p:txBody>
          <a:bodyPr wrap="square" lIns="0" tIns="0" rIns="0" bIns="0" rtlCol="0" anchor="ctr"/>
          <a:lstStyle/>
          <a:p>
            <a:pPr indent="0" marL="0">
              <a:buNone/>
            </a:pPr>
            <a:r>
              <a:rPr lang="en-US" sz="1100" dirty="0">
                <a:solidFill>
                  <a:srgbClr val="6E8898"/>
                </a:solidFill>
                <a:latin typeface="Calibri" pitchFamily="34" charset="0"/>
                <a:ea typeface="Calibri" pitchFamily="34" charset="-122"/>
                <a:cs typeface="Calibri" pitchFamily="34" charset="-120"/>
              </a:rPr>
              <a:t>78% from new retailers</a:t>
            </a:r>
            <a:endParaRPr lang="en-US" sz="1100" dirty="0"/>
          </a:p>
        </p:txBody>
      </p:sp>
      <p:sp>
        <p:nvSpPr>
          <p:cNvPr id="12" name="Shape 10"/>
          <p:cNvSpPr/>
          <p:nvPr/>
        </p:nvSpPr>
        <p:spPr>
          <a:xfrm>
            <a:off x="6254496" y="1783080"/>
            <a:ext cx="2606040" cy="2103120"/>
          </a:xfrm>
          <a:prstGeom prst="roundRect">
            <a:avLst>
              <a:gd name="adj" fmla="val 4348"/>
            </a:avLst>
          </a:prstGeom>
          <a:solidFill>
            <a:srgbClr val="F4F6F7"/>
          </a:solidFill>
          <a:ln/>
          <a:effectLst>
            <a:outerShdw sx="100000" sy="100000" kx="0" ky="0" algn="bl" rotWithShape="0" blurRad="101600" dist="12700" dir="5400000">
              <a:srgbClr val="B9C4CB">
                <a:alpha val="35000"/>
              </a:srgbClr>
            </a:outerShdw>
          </a:effectLst>
        </p:spPr>
      </p:sp>
      <p:sp>
        <p:nvSpPr>
          <p:cNvPr id="13" name="Text 11"/>
          <p:cNvSpPr/>
          <p:nvPr/>
        </p:nvSpPr>
        <p:spPr>
          <a:xfrm>
            <a:off x="6455664" y="2011680"/>
            <a:ext cx="2194560" cy="822960"/>
          </a:xfrm>
          <a:prstGeom prst="rect">
            <a:avLst/>
          </a:prstGeom>
          <a:noFill/>
          <a:ln/>
        </p:spPr>
        <p:txBody>
          <a:bodyPr wrap="square" lIns="0" tIns="0" rIns="0" bIns="0" rtlCol="0" anchor="ctr"/>
          <a:lstStyle/>
          <a:p>
            <a:pPr indent="0" marL="0">
              <a:buNone/>
            </a:pPr>
            <a:r>
              <a:rPr lang="en-US" sz="4000" b="1" dirty="0">
                <a:solidFill>
                  <a:srgbClr val="12324F"/>
                </a:solidFill>
                <a:latin typeface="Cambria" pitchFamily="34" charset="0"/>
                <a:ea typeface="Cambria" pitchFamily="34" charset="-122"/>
                <a:cs typeface="Cambria" pitchFamily="34" charset="-120"/>
              </a:rPr>
              <a:t>2.02M</a:t>
            </a:r>
            <a:endParaRPr lang="en-US" sz="4000" dirty="0"/>
          </a:p>
        </p:txBody>
      </p:sp>
      <p:sp>
        <p:nvSpPr>
          <p:cNvPr id="14" name="Text 12"/>
          <p:cNvSpPr/>
          <p:nvPr/>
        </p:nvSpPr>
        <p:spPr>
          <a:xfrm>
            <a:off x="6455664" y="2834640"/>
            <a:ext cx="2194560" cy="320040"/>
          </a:xfrm>
          <a:prstGeom prst="rect">
            <a:avLst/>
          </a:prstGeom>
          <a:noFill/>
          <a:ln/>
        </p:spPr>
        <p:txBody>
          <a:bodyPr wrap="square" lIns="0" tIns="0" rIns="0" bIns="0" rtlCol="0" anchor="ctr"/>
          <a:lstStyle/>
          <a:p>
            <a:pPr indent="0" marL="0">
              <a:buNone/>
            </a:pPr>
            <a:r>
              <a:rPr lang="en-US" sz="1300" b="1" dirty="0">
                <a:solidFill>
                  <a:srgbClr val="1B2A36"/>
                </a:solidFill>
                <a:latin typeface="Calibri" pitchFamily="34" charset="0"/>
                <a:ea typeface="Calibri" pitchFamily="34" charset="-122"/>
                <a:cs typeface="Calibri" pitchFamily="34" charset="-120"/>
              </a:rPr>
              <a:t>units sold</a:t>
            </a:r>
            <a:endParaRPr lang="en-US" sz="1300" dirty="0"/>
          </a:p>
        </p:txBody>
      </p:sp>
      <p:sp>
        <p:nvSpPr>
          <p:cNvPr id="15" name="Text 13"/>
          <p:cNvSpPr/>
          <p:nvPr/>
        </p:nvSpPr>
        <p:spPr>
          <a:xfrm>
            <a:off x="6455664" y="3154680"/>
            <a:ext cx="2286000" cy="457200"/>
          </a:xfrm>
          <a:prstGeom prst="rect">
            <a:avLst/>
          </a:prstGeom>
          <a:noFill/>
          <a:ln/>
        </p:spPr>
        <p:txBody>
          <a:bodyPr wrap="square" lIns="0" tIns="0" rIns="0" bIns="0" rtlCol="0" anchor="ctr"/>
          <a:lstStyle/>
          <a:p>
            <a:pPr indent="0" marL="0">
              <a:buNone/>
            </a:pPr>
            <a:r>
              <a:rPr lang="en-US" sz="1100" dirty="0">
                <a:solidFill>
                  <a:srgbClr val="6E8898"/>
                </a:solidFill>
                <a:latin typeface="Calibri" pitchFamily="34" charset="0"/>
                <a:ea typeface="Calibri" pitchFamily="34" charset="-122"/>
                <a:cs typeface="Calibri" pitchFamily="34" charset="-120"/>
              </a:rPr>
              <a:t>4.4x 2020 volume</a:t>
            </a:r>
            <a:endParaRPr lang="en-US" sz="1100" dirty="0"/>
          </a:p>
        </p:txBody>
      </p:sp>
      <p:sp>
        <p:nvSpPr>
          <p:cNvPr id="16" name="Shape 14"/>
          <p:cNvSpPr/>
          <p:nvPr/>
        </p:nvSpPr>
        <p:spPr>
          <a:xfrm>
            <a:off x="9107424" y="1783080"/>
            <a:ext cx="2606040" cy="2103120"/>
          </a:xfrm>
          <a:prstGeom prst="roundRect">
            <a:avLst>
              <a:gd name="adj" fmla="val 4348"/>
            </a:avLst>
          </a:prstGeom>
          <a:solidFill>
            <a:srgbClr val="F4F6F7"/>
          </a:solidFill>
          <a:ln/>
          <a:effectLst>
            <a:outerShdw sx="100000" sy="100000" kx="0" ky="0" algn="bl" rotWithShape="0" blurRad="101600" dist="12700" dir="5400000">
              <a:srgbClr val="B9C4CB">
                <a:alpha val="35000"/>
              </a:srgbClr>
            </a:outerShdw>
          </a:effectLst>
        </p:spPr>
      </p:sp>
      <p:sp>
        <p:nvSpPr>
          <p:cNvPr id="17" name="Text 15"/>
          <p:cNvSpPr/>
          <p:nvPr/>
        </p:nvSpPr>
        <p:spPr>
          <a:xfrm>
            <a:off x="9308592" y="2011680"/>
            <a:ext cx="2194560" cy="822960"/>
          </a:xfrm>
          <a:prstGeom prst="rect">
            <a:avLst/>
          </a:prstGeom>
          <a:noFill/>
          <a:ln/>
        </p:spPr>
        <p:txBody>
          <a:bodyPr wrap="square" lIns="0" tIns="0" rIns="0" bIns="0" rtlCol="0" anchor="ctr"/>
          <a:lstStyle/>
          <a:p>
            <a:pPr indent="0" marL="0">
              <a:buNone/>
            </a:pPr>
            <a:r>
              <a:rPr lang="en-US" sz="4000" b="1" dirty="0">
                <a:solidFill>
                  <a:srgbClr val="12324F"/>
                </a:solidFill>
                <a:latin typeface="Cambria" pitchFamily="34" charset="0"/>
                <a:ea typeface="Cambria" pitchFamily="34" charset="-122"/>
                <a:cs typeface="Cambria" pitchFamily="34" charset="-120"/>
              </a:rPr>
              <a:t>39.8%</a:t>
            </a:r>
            <a:endParaRPr lang="en-US" sz="4000" dirty="0"/>
          </a:p>
        </p:txBody>
      </p:sp>
      <p:sp>
        <p:nvSpPr>
          <p:cNvPr id="18" name="Text 16"/>
          <p:cNvSpPr/>
          <p:nvPr/>
        </p:nvSpPr>
        <p:spPr>
          <a:xfrm>
            <a:off x="9308592" y="2834640"/>
            <a:ext cx="2194560" cy="320040"/>
          </a:xfrm>
          <a:prstGeom prst="rect">
            <a:avLst/>
          </a:prstGeom>
          <a:noFill/>
          <a:ln/>
        </p:spPr>
        <p:txBody>
          <a:bodyPr wrap="square" lIns="0" tIns="0" rIns="0" bIns="0" rtlCol="0" anchor="ctr"/>
          <a:lstStyle/>
          <a:p>
            <a:pPr indent="0" marL="0">
              <a:buNone/>
            </a:pPr>
            <a:r>
              <a:rPr lang="en-US" sz="1300" b="1" dirty="0">
                <a:solidFill>
                  <a:srgbClr val="1B2A36"/>
                </a:solidFill>
                <a:latin typeface="Calibri" pitchFamily="34" charset="0"/>
                <a:ea typeface="Calibri" pitchFamily="34" charset="-122"/>
                <a:cs typeface="Calibri" pitchFamily="34" charset="-120"/>
              </a:rPr>
              <a:t>operating margin</a:t>
            </a:r>
            <a:endParaRPr lang="en-US" sz="1300" dirty="0"/>
          </a:p>
        </p:txBody>
      </p:sp>
      <p:sp>
        <p:nvSpPr>
          <p:cNvPr id="19" name="Text 17"/>
          <p:cNvSpPr/>
          <p:nvPr/>
        </p:nvSpPr>
        <p:spPr>
          <a:xfrm>
            <a:off x="9308592" y="3154680"/>
            <a:ext cx="2286000" cy="457200"/>
          </a:xfrm>
          <a:prstGeom prst="rect">
            <a:avLst/>
          </a:prstGeom>
          <a:noFill/>
          <a:ln/>
        </p:spPr>
        <p:txBody>
          <a:bodyPr wrap="square" lIns="0" tIns="0" rIns="0" bIns="0" rtlCol="0" anchor="ctr"/>
          <a:lstStyle/>
          <a:p>
            <a:pPr indent="0" marL="0">
              <a:buNone/>
            </a:pPr>
            <a:r>
              <a:rPr lang="en-US" sz="1100" dirty="0">
                <a:solidFill>
                  <a:srgbClr val="6E8898"/>
                </a:solidFill>
                <a:latin typeface="Calibri" pitchFamily="34" charset="0"/>
                <a:ea typeface="Calibri" pitchFamily="34" charset="-122"/>
                <a:cs typeface="Calibri" pitchFamily="34" charset="-120"/>
              </a:rPr>
              <a:t>up from 37.2%</a:t>
            </a:r>
            <a:endParaRPr lang="en-US" sz="1100" dirty="0"/>
          </a:p>
        </p:txBody>
      </p:sp>
      <p:sp>
        <p:nvSpPr>
          <p:cNvPr id="20" name="Shape 18"/>
          <p:cNvSpPr/>
          <p:nvPr/>
        </p:nvSpPr>
        <p:spPr>
          <a:xfrm>
            <a:off x="548640" y="4206240"/>
            <a:ext cx="11091672" cy="1600200"/>
          </a:xfrm>
          <a:prstGeom prst="roundRect">
            <a:avLst>
              <a:gd name="adj" fmla="val 5714"/>
            </a:avLst>
          </a:prstGeom>
          <a:solidFill>
            <a:srgbClr val="12324F"/>
          </a:solidFill>
          <a:ln/>
        </p:spPr>
      </p:sp>
      <p:sp>
        <p:nvSpPr>
          <p:cNvPr id="21" name="Text 19"/>
          <p:cNvSpPr/>
          <p:nvPr/>
        </p:nvSpPr>
        <p:spPr>
          <a:xfrm>
            <a:off x="868680" y="4389120"/>
            <a:ext cx="105156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headline hides the real story</a:t>
            </a:r>
            <a:endParaRPr lang="en-US" sz="1700" dirty="0"/>
          </a:p>
        </p:txBody>
      </p:sp>
      <p:sp>
        <p:nvSpPr>
          <p:cNvPr id="22" name="Text 20"/>
          <p:cNvSpPr/>
          <p:nvPr/>
        </p:nvSpPr>
        <p:spPr>
          <a:xfrm>
            <a:off x="868680" y="4800600"/>
            <a:ext cx="10424160" cy="822960"/>
          </a:xfrm>
          <a:prstGeom prst="rect">
            <a:avLst/>
          </a:prstGeom>
          <a:noFill/>
          <a:ln/>
        </p:spPr>
        <p:txBody>
          <a:bodyPr wrap="square" lIns="0" tIns="0" rIns="0" bIns="0" rtlCol="0" anchor="ctr"/>
          <a:lstStyle/>
          <a:p>
            <a:pPr indent="0" marL="0">
              <a:buNone/>
            </a:pPr>
            <a:r>
              <a:rPr lang="en-US" sz="1400" b="1" dirty="0">
                <a:solidFill>
                  <a:srgbClr val="D8E3EA"/>
                </a:solidFill>
                <a:latin typeface="Calibri" pitchFamily="34" charset="0"/>
                <a:ea typeface="Calibri" pitchFamily="34" charset="-122"/>
                <a:cs typeface="Calibri" pitchFamily="34" charset="-120"/>
              </a:rPr>
              <a:t>Growth came from distribution, not demand — </a:t>
            </a:r>
            <a:pPr indent="0" marL="0">
              <a:buNone/>
            </a:pPr>
            <a:r>
              <a:rPr lang="en-US" sz="1400" dirty="0">
                <a:solidFill>
                  <a:srgbClr val="D8E3EA"/>
                </a:solidFill>
                <a:latin typeface="Calibri" pitchFamily="34" charset="0"/>
                <a:ea typeface="Calibri" pitchFamily="34" charset="-122"/>
                <a:cs typeface="Calibri" pitchFamily="34" charset="-120"/>
              </a:rPr>
              <a:t>$55.9M of the $71.7M increase came from two retailers that did no business with RUSH in 2020. </a:t>
            </a:r>
            <a:pPr indent="0" marL="0">
              <a:buNone/>
            </a:pPr>
            <a:r>
              <a:rPr lang="en-US" sz="1400" dirty="0">
                <a:solidFill>
                  <a:srgbClr val="FFC9B5"/>
                </a:solidFill>
                <a:latin typeface="Calibri" pitchFamily="34" charset="0"/>
                <a:ea typeface="Calibri" pitchFamily="34" charset="-122"/>
                <a:cs typeface="Calibri" pitchFamily="34" charset="-120"/>
              </a:rPr>
              <a:t>Meanwhile our largest 2020 account, Amazon, shrank 40%.</a:t>
            </a:r>
            <a:endParaRPr lang="en-US" sz="1400" dirty="0"/>
          </a:p>
        </p:txBody>
      </p:sp>
      <p:sp>
        <p:nvSpPr>
          <p:cNvPr id="23" name="Text 21"/>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AA5AD"/>
                </a:solidFill>
                <a:latin typeface="Calibri" pitchFamily="34" charset="0"/>
                <a:ea typeface="Calibri" pitchFamily="34" charset="-122"/>
                <a:cs typeface="Calibri" pitchFamily="34" charset="-120"/>
              </a:rPr>
              <a:t>RUSH · US Sales Review · FY2021</a:t>
            </a:r>
            <a:endParaRPr lang="en-US" sz="900" dirty="0"/>
          </a:p>
        </p:txBody>
      </p:sp>
      <p:sp>
        <p:nvSpPr>
          <p:cNvPr id="24" name="Text 22"/>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900" dirty="0">
                <a:solidFill>
                  <a:srgbClr val="9AA5A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2324F"/>
                </a:solidFill>
                <a:latin typeface="Cambria" pitchFamily="34" charset="0"/>
                <a:ea typeface="Cambria" pitchFamily="34" charset="-122"/>
                <a:cs typeface="Cambria" pitchFamily="34" charset="-120"/>
              </a:rPr>
              <a:t>Your four questions, answered</a:t>
            </a:r>
            <a:endParaRPr lang="en-US" sz="3400" dirty="0"/>
          </a:p>
        </p:txBody>
      </p:sp>
      <p:sp>
        <p:nvSpPr>
          <p:cNvPr id="3" name="Shape 1"/>
          <p:cNvSpPr/>
          <p:nvPr/>
        </p:nvSpPr>
        <p:spPr>
          <a:xfrm>
            <a:off x="566928" y="1527048"/>
            <a:ext cx="566928" cy="566928"/>
          </a:xfrm>
          <a:prstGeom prst="ellipse">
            <a:avLst/>
          </a:prstGeom>
          <a:solidFill>
            <a:srgbClr val="12324F"/>
          </a:solidFill>
          <a:ln/>
        </p:spPr>
      </p:sp>
      <p:sp>
        <p:nvSpPr>
          <p:cNvPr id="4" name="Text 2"/>
          <p:cNvSpPr/>
          <p:nvPr/>
        </p:nvSpPr>
        <p:spPr>
          <a:xfrm>
            <a:off x="566928" y="1527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371600" y="1417320"/>
            <a:ext cx="4754880" cy="320040"/>
          </a:xfrm>
          <a:prstGeom prst="rect">
            <a:avLst/>
          </a:prstGeom>
          <a:noFill/>
          <a:ln/>
        </p:spPr>
        <p:txBody>
          <a:bodyPr wrap="square" lIns="0" tIns="0" rIns="0" bIns="0" rtlCol="0" anchor="ctr"/>
          <a:lstStyle/>
          <a:p>
            <a:pPr indent="0" marL="0">
              <a:buNone/>
            </a:pPr>
            <a:r>
              <a:rPr lang="en-US" sz="1300" dirty="0">
                <a:solidFill>
                  <a:srgbClr val="5A6B78"/>
                </a:solidFill>
                <a:latin typeface="Calibri" pitchFamily="34" charset="0"/>
                <a:ea typeface="Calibri" pitchFamily="34" charset="-122"/>
                <a:cs typeface="Calibri" pitchFamily="34" charset="-120"/>
              </a:rPr>
              <a:t>Highest-selling product category, 2021</a:t>
            </a:r>
            <a:endParaRPr lang="en-US" sz="1300" dirty="0"/>
          </a:p>
        </p:txBody>
      </p:sp>
      <p:sp>
        <p:nvSpPr>
          <p:cNvPr id="6" name="Text 4"/>
          <p:cNvSpPr/>
          <p:nvPr/>
        </p:nvSpPr>
        <p:spPr>
          <a:xfrm>
            <a:off x="1371600" y="1728216"/>
            <a:ext cx="6035040" cy="411480"/>
          </a:xfrm>
          <a:prstGeom prst="rect">
            <a:avLst/>
          </a:prstGeom>
          <a:noFill/>
          <a:ln/>
        </p:spPr>
        <p:txBody>
          <a:bodyPr wrap="square" lIns="0" tIns="0" rIns="0" bIns="0" rtlCol="0" anchor="ctr"/>
          <a:lstStyle/>
          <a:p>
            <a:pPr indent="0" marL="0">
              <a:buNone/>
            </a:pPr>
            <a:r>
              <a:rPr lang="en-US" sz="2100" b="1" dirty="0">
                <a:solidFill>
                  <a:srgbClr val="12324F"/>
                </a:solidFill>
                <a:latin typeface="Cambria" pitchFamily="34" charset="0"/>
                <a:ea typeface="Cambria" pitchFamily="34" charset="-122"/>
                <a:cs typeface="Cambria" pitchFamily="34" charset="-120"/>
              </a:rPr>
              <a:t>Men's Street Footwear</a:t>
            </a:r>
            <a:endParaRPr lang="en-US" sz="2100" dirty="0"/>
          </a:p>
        </p:txBody>
      </p:sp>
      <p:sp>
        <p:nvSpPr>
          <p:cNvPr id="7" name="Text 5"/>
          <p:cNvSpPr/>
          <p:nvPr/>
        </p:nvSpPr>
        <p:spPr>
          <a:xfrm>
            <a:off x="7680960" y="1709928"/>
            <a:ext cx="4023360" cy="457200"/>
          </a:xfrm>
          <a:prstGeom prst="rect">
            <a:avLst/>
          </a:prstGeom>
          <a:noFill/>
          <a:ln/>
        </p:spPr>
        <p:txBody>
          <a:bodyPr wrap="square" lIns="0" tIns="0" rIns="0" bIns="0" rtlCol="0" anchor="ctr"/>
          <a:lstStyle/>
          <a:p>
            <a:pPr algn="r" indent="0" marL="0">
              <a:buNone/>
            </a:pPr>
            <a:r>
              <a:rPr lang="en-US" sz="1700" b="1" dirty="0">
                <a:solidFill>
                  <a:srgbClr val="E4572E"/>
                </a:solidFill>
                <a:latin typeface="Calibri" pitchFamily="34" charset="0"/>
                <a:ea typeface="Calibri" pitchFamily="34" charset="-122"/>
                <a:cs typeface="Calibri" pitchFamily="34" charset="-120"/>
              </a:rPr>
              <a:t>$22,690,427 · 23.7% of revenue</a:t>
            </a:r>
            <a:endParaRPr lang="en-US" sz="1700" dirty="0"/>
          </a:p>
        </p:txBody>
      </p:sp>
      <p:sp>
        <p:nvSpPr>
          <p:cNvPr id="8" name="Shape 6"/>
          <p:cNvSpPr/>
          <p:nvPr/>
        </p:nvSpPr>
        <p:spPr>
          <a:xfrm>
            <a:off x="566928" y="2734056"/>
            <a:ext cx="566928" cy="566928"/>
          </a:xfrm>
          <a:prstGeom prst="ellipse">
            <a:avLst/>
          </a:prstGeom>
          <a:solidFill>
            <a:srgbClr val="12324F"/>
          </a:solidFill>
          <a:ln/>
        </p:spPr>
      </p:sp>
      <p:sp>
        <p:nvSpPr>
          <p:cNvPr id="9" name="Text 7"/>
          <p:cNvSpPr/>
          <p:nvPr/>
        </p:nvSpPr>
        <p:spPr>
          <a:xfrm>
            <a:off x="566928" y="273405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2624328"/>
            <a:ext cx="4754880" cy="320040"/>
          </a:xfrm>
          <a:prstGeom prst="rect">
            <a:avLst/>
          </a:prstGeom>
          <a:noFill/>
          <a:ln/>
        </p:spPr>
        <p:txBody>
          <a:bodyPr wrap="square" lIns="0" tIns="0" rIns="0" bIns="0" rtlCol="0" anchor="ctr"/>
          <a:lstStyle/>
          <a:p>
            <a:pPr indent="0" marL="0">
              <a:buNone/>
            </a:pPr>
            <a:r>
              <a:rPr lang="en-US" sz="1300" dirty="0">
                <a:solidFill>
                  <a:srgbClr val="5A6B78"/>
                </a:solidFill>
                <a:latin typeface="Calibri" pitchFamily="34" charset="0"/>
                <a:ea typeface="Calibri" pitchFamily="34" charset="-122"/>
                <a:cs typeface="Calibri" pitchFamily="34" charset="-120"/>
              </a:rPr>
              <a:t>Top state — women's products, 2021</a:t>
            </a:r>
            <a:endParaRPr lang="en-US" sz="1300" dirty="0"/>
          </a:p>
        </p:txBody>
      </p:sp>
      <p:sp>
        <p:nvSpPr>
          <p:cNvPr id="11" name="Text 9"/>
          <p:cNvSpPr/>
          <p:nvPr/>
        </p:nvSpPr>
        <p:spPr>
          <a:xfrm>
            <a:off x="1371600" y="2935224"/>
            <a:ext cx="6035040" cy="411480"/>
          </a:xfrm>
          <a:prstGeom prst="rect">
            <a:avLst/>
          </a:prstGeom>
          <a:noFill/>
          <a:ln/>
        </p:spPr>
        <p:txBody>
          <a:bodyPr wrap="square" lIns="0" tIns="0" rIns="0" bIns="0" rtlCol="0" anchor="ctr"/>
          <a:lstStyle/>
          <a:p>
            <a:pPr indent="0" marL="0">
              <a:buNone/>
            </a:pPr>
            <a:r>
              <a:rPr lang="en-US" sz="2100" b="1" dirty="0">
                <a:solidFill>
                  <a:srgbClr val="12324F"/>
                </a:solidFill>
                <a:latin typeface="Cambria" pitchFamily="34" charset="0"/>
                <a:ea typeface="Cambria" pitchFamily="34" charset="-122"/>
                <a:cs typeface="Cambria" pitchFamily="34" charset="-120"/>
              </a:rPr>
              <a:t>Maine</a:t>
            </a:r>
            <a:endParaRPr lang="en-US" sz="2100" dirty="0"/>
          </a:p>
        </p:txBody>
      </p:sp>
      <p:sp>
        <p:nvSpPr>
          <p:cNvPr id="12" name="Text 10"/>
          <p:cNvSpPr/>
          <p:nvPr/>
        </p:nvSpPr>
        <p:spPr>
          <a:xfrm>
            <a:off x="7680960" y="2916936"/>
            <a:ext cx="4023360" cy="457200"/>
          </a:xfrm>
          <a:prstGeom prst="rect">
            <a:avLst/>
          </a:prstGeom>
          <a:noFill/>
          <a:ln/>
        </p:spPr>
        <p:txBody>
          <a:bodyPr wrap="square" lIns="0" tIns="0" rIns="0" bIns="0" rtlCol="0" anchor="ctr"/>
          <a:lstStyle/>
          <a:p>
            <a:pPr algn="r" indent="0" marL="0">
              <a:buNone/>
            </a:pPr>
            <a:r>
              <a:rPr lang="en-US" sz="1700" b="1" dirty="0">
                <a:solidFill>
                  <a:srgbClr val="E4572E"/>
                </a:solidFill>
                <a:latin typeface="Calibri" pitchFamily="34" charset="0"/>
                <a:ea typeface="Calibri" pitchFamily="34" charset="-122"/>
                <a:cs typeface="Calibri" pitchFamily="34" charset="-120"/>
              </a:rPr>
              <a:t>$2,176,301</a:t>
            </a:r>
            <a:endParaRPr lang="en-US" sz="1700" dirty="0"/>
          </a:p>
        </p:txBody>
      </p:sp>
      <p:sp>
        <p:nvSpPr>
          <p:cNvPr id="13" name="Shape 11"/>
          <p:cNvSpPr/>
          <p:nvPr/>
        </p:nvSpPr>
        <p:spPr>
          <a:xfrm>
            <a:off x="566928" y="3941064"/>
            <a:ext cx="566928" cy="566928"/>
          </a:xfrm>
          <a:prstGeom prst="ellipse">
            <a:avLst/>
          </a:prstGeom>
          <a:solidFill>
            <a:srgbClr val="12324F"/>
          </a:solidFill>
          <a:ln/>
        </p:spPr>
      </p:sp>
      <p:sp>
        <p:nvSpPr>
          <p:cNvPr id="14" name="Text 12"/>
          <p:cNvSpPr/>
          <p:nvPr/>
        </p:nvSpPr>
        <p:spPr>
          <a:xfrm>
            <a:off x="566928" y="394106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371600" y="3831336"/>
            <a:ext cx="4754880" cy="320040"/>
          </a:xfrm>
          <a:prstGeom prst="rect">
            <a:avLst/>
          </a:prstGeom>
          <a:noFill/>
          <a:ln/>
        </p:spPr>
        <p:txBody>
          <a:bodyPr wrap="square" lIns="0" tIns="0" rIns="0" bIns="0" rtlCol="0" anchor="ctr"/>
          <a:lstStyle/>
          <a:p>
            <a:pPr indent="0" marL="0">
              <a:buNone/>
            </a:pPr>
            <a:r>
              <a:rPr lang="en-US" sz="1300" dirty="0">
                <a:solidFill>
                  <a:srgbClr val="5A6B78"/>
                </a:solidFill>
                <a:latin typeface="Calibri" pitchFamily="34" charset="0"/>
                <a:ea typeface="Calibri" pitchFamily="34" charset="-122"/>
                <a:cs typeface="Calibri" pitchFamily="34" charset="-120"/>
              </a:rPr>
              <a:t>Top state — men's products, 2021</a:t>
            </a:r>
            <a:endParaRPr lang="en-US" sz="1300" dirty="0"/>
          </a:p>
        </p:txBody>
      </p:sp>
      <p:sp>
        <p:nvSpPr>
          <p:cNvPr id="16" name="Text 14"/>
          <p:cNvSpPr/>
          <p:nvPr/>
        </p:nvSpPr>
        <p:spPr>
          <a:xfrm>
            <a:off x="1371600" y="4142232"/>
            <a:ext cx="6035040" cy="411480"/>
          </a:xfrm>
          <a:prstGeom prst="rect">
            <a:avLst/>
          </a:prstGeom>
          <a:noFill/>
          <a:ln/>
        </p:spPr>
        <p:txBody>
          <a:bodyPr wrap="square" lIns="0" tIns="0" rIns="0" bIns="0" rtlCol="0" anchor="ctr"/>
          <a:lstStyle/>
          <a:p>
            <a:pPr indent="0" marL="0">
              <a:buNone/>
            </a:pPr>
            <a:r>
              <a:rPr lang="en-US" sz="2100" b="1" dirty="0">
                <a:solidFill>
                  <a:srgbClr val="12324F"/>
                </a:solidFill>
                <a:latin typeface="Cambria" pitchFamily="34" charset="0"/>
                <a:ea typeface="Cambria" pitchFamily="34" charset="-122"/>
                <a:cs typeface="Cambria" pitchFamily="34" charset="-120"/>
              </a:rPr>
              <a:t>Delaware</a:t>
            </a:r>
            <a:endParaRPr lang="en-US" sz="2100" dirty="0"/>
          </a:p>
        </p:txBody>
      </p:sp>
      <p:sp>
        <p:nvSpPr>
          <p:cNvPr id="17" name="Text 15"/>
          <p:cNvSpPr/>
          <p:nvPr/>
        </p:nvSpPr>
        <p:spPr>
          <a:xfrm>
            <a:off x="7680960" y="4123944"/>
            <a:ext cx="4023360" cy="457200"/>
          </a:xfrm>
          <a:prstGeom prst="rect">
            <a:avLst/>
          </a:prstGeom>
          <a:noFill/>
          <a:ln/>
        </p:spPr>
        <p:txBody>
          <a:bodyPr wrap="square" lIns="0" tIns="0" rIns="0" bIns="0" rtlCol="0" anchor="ctr"/>
          <a:lstStyle/>
          <a:p>
            <a:pPr algn="r" indent="0" marL="0">
              <a:buNone/>
            </a:pPr>
            <a:r>
              <a:rPr lang="en-US" sz="1700" b="1" dirty="0">
                <a:solidFill>
                  <a:srgbClr val="E4572E"/>
                </a:solidFill>
                <a:latin typeface="Calibri" pitchFamily="34" charset="0"/>
                <a:ea typeface="Calibri" pitchFamily="34" charset="-122"/>
                <a:cs typeface="Calibri" pitchFamily="34" charset="-120"/>
              </a:rPr>
              <a:t>$2,334,300</a:t>
            </a:r>
            <a:endParaRPr lang="en-US" sz="1700" dirty="0"/>
          </a:p>
        </p:txBody>
      </p:sp>
      <p:sp>
        <p:nvSpPr>
          <p:cNvPr id="18" name="Shape 16"/>
          <p:cNvSpPr/>
          <p:nvPr/>
        </p:nvSpPr>
        <p:spPr>
          <a:xfrm>
            <a:off x="566928" y="5148072"/>
            <a:ext cx="566928" cy="566928"/>
          </a:xfrm>
          <a:prstGeom prst="ellipse">
            <a:avLst/>
          </a:prstGeom>
          <a:solidFill>
            <a:srgbClr val="12324F"/>
          </a:solidFill>
          <a:ln/>
        </p:spPr>
      </p:sp>
      <p:sp>
        <p:nvSpPr>
          <p:cNvPr id="19" name="Text 17"/>
          <p:cNvSpPr/>
          <p:nvPr/>
        </p:nvSpPr>
        <p:spPr>
          <a:xfrm>
            <a:off x="566928" y="51480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1371600" y="5038344"/>
            <a:ext cx="4754880" cy="320040"/>
          </a:xfrm>
          <a:prstGeom prst="rect">
            <a:avLst/>
          </a:prstGeom>
          <a:noFill/>
          <a:ln/>
        </p:spPr>
        <p:txBody>
          <a:bodyPr wrap="square" lIns="0" tIns="0" rIns="0" bIns="0" rtlCol="0" anchor="ctr"/>
          <a:lstStyle/>
          <a:p>
            <a:pPr indent="0" marL="0">
              <a:buNone/>
            </a:pPr>
            <a:r>
              <a:rPr lang="en-US" sz="1300" dirty="0">
                <a:solidFill>
                  <a:srgbClr val="5A6B78"/>
                </a:solidFill>
                <a:latin typeface="Calibri" pitchFamily="34" charset="0"/>
                <a:ea typeface="Calibri" pitchFamily="34" charset="-122"/>
                <a:cs typeface="Calibri" pitchFamily="34" charset="-120"/>
              </a:rPr>
              <a:t>Retailer buying the most units</a:t>
            </a:r>
            <a:endParaRPr lang="en-US" sz="1300" dirty="0"/>
          </a:p>
        </p:txBody>
      </p:sp>
      <p:sp>
        <p:nvSpPr>
          <p:cNvPr id="21" name="Text 19"/>
          <p:cNvSpPr/>
          <p:nvPr/>
        </p:nvSpPr>
        <p:spPr>
          <a:xfrm>
            <a:off x="1371600" y="5349240"/>
            <a:ext cx="6035040" cy="411480"/>
          </a:xfrm>
          <a:prstGeom prst="rect">
            <a:avLst/>
          </a:prstGeom>
          <a:noFill/>
          <a:ln/>
        </p:spPr>
        <p:txBody>
          <a:bodyPr wrap="square" lIns="0" tIns="0" rIns="0" bIns="0" rtlCol="0" anchor="ctr"/>
          <a:lstStyle/>
          <a:p>
            <a:pPr indent="0" marL="0">
              <a:buNone/>
            </a:pPr>
            <a:r>
              <a:rPr lang="en-US" sz="2100" b="1" dirty="0">
                <a:solidFill>
                  <a:srgbClr val="12324F"/>
                </a:solidFill>
                <a:latin typeface="Cambria" pitchFamily="34" charset="0"/>
                <a:ea typeface="Cambria" pitchFamily="34" charset="-122"/>
                <a:cs typeface="Cambria" pitchFamily="34" charset="-120"/>
              </a:rPr>
              <a:t>Foot Locker (2021) · Amazon (2020)</a:t>
            </a:r>
            <a:endParaRPr lang="en-US" sz="2100" dirty="0"/>
          </a:p>
        </p:txBody>
      </p:sp>
      <p:sp>
        <p:nvSpPr>
          <p:cNvPr id="22" name="Text 20"/>
          <p:cNvSpPr/>
          <p:nvPr/>
        </p:nvSpPr>
        <p:spPr>
          <a:xfrm>
            <a:off x="7680960" y="5330952"/>
            <a:ext cx="4023360" cy="457200"/>
          </a:xfrm>
          <a:prstGeom prst="rect">
            <a:avLst/>
          </a:prstGeom>
          <a:noFill/>
          <a:ln/>
        </p:spPr>
        <p:txBody>
          <a:bodyPr wrap="square" lIns="0" tIns="0" rIns="0" bIns="0" rtlCol="0" anchor="ctr"/>
          <a:lstStyle/>
          <a:p>
            <a:pPr algn="r" indent="0" marL="0">
              <a:buNone/>
            </a:pPr>
            <a:r>
              <a:rPr lang="en-US" sz="1700" b="1" dirty="0">
                <a:solidFill>
                  <a:srgbClr val="E4572E"/>
                </a:solidFill>
                <a:latin typeface="Calibri" pitchFamily="34" charset="0"/>
                <a:ea typeface="Calibri" pitchFamily="34" charset="-122"/>
                <a:cs typeface="Calibri" pitchFamily="34" charset="-120"/>
              </a:rPr>
              <a:t>1,097,410 units · 317,930 units</a:t>
            </a:r>
            <a:endParaRPr lang="en-US" sz="1700" dirty="0"/>
          </a:p>
        </p:txBody>
      </p:sp>
      <p:sp>
        <p:nvSpPr>
          <p:cNvPr id="23" name="Text 21"/>
          <p:cNvSpPr/>
          <p:nvPr/>
        </p:nvSpPr>
        <p:spPr>
          <a:xfrm>
            <a:off x="566928" y="5943600"/>
            <a:ext cx="10515600" cy="320040"/>
          </a:xfrm>
          <a:prstGeom prst="rect">
            <a:avLst/>
          </a:prstGeom>
          <a:noFill/>
          <a:ln/>
        </p:spPr>
        <p:txBody>
          <a:bodyPr wrap="square" lIns="0" tIns="0" rIns="0" bIns="0" rtlCol="0" anchor="ctr"/>
          <a:lstStyle/>
          <a:p>
            <a:pPr indent="0" marL="0">
              <a:buNone/>
            </a:pPr>
            <a:r>
              <a:rPr lang="en-US" sz="1100" i="1" dirty="0">
                <a:solidFill>
                  <a:srgbClr val="6E8898"/>
                </a:solidFill>
                <a:latin typeface="Calibri" pitchFamily="34" charset="0"/>
                <a:ea typeface="Calibri" pitchFamily="34" charset="-122"/>
                <a:cs typeface="Calibri" pitchFamily="34" charset="-120"/>
              </a:rPr>
              <a:t>Note: state rankings reflect where our retail partners operate, not market size — see slide 8.</a:t>
            </a:r>
            <a:endParaRPr lang="en-US" sz="1100" dirty="0"/>
          </a:p>
        </p:txBody>
      </p:sp>
      <p:sp>
        <p:nvSpPr>
          <p:cNvPr id="24" name="Text 22"/>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AA5AD"/>
                </a:solidFill>
                <a:latin typeface="Calibri" pitchFamily="34" charset="0"/>
                <a:ea typeface="Calibri" pitchFamily="34" charset="-122"/>
                <a:cs typeface="Calibri" pitchFamily="34" charset="-120"/>
              </a:rPr>
              <a:t>RUSH · US Sales Review · FY2021</a:t>
            </a:r>
            <a:endParaRPr lang="en-US" sz="900" dirty="0"/>
          </a:p>
        </p:txBody>
      </p:sp>
      <p:sp>
        <p:nvSpPr>
          <p:cNvPr id="25" name="Text 2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900" dirty="0">
                <a:solidFill>
                  <a:srgbClr val="9AA5A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2324F"/>
                </a:solidFill>
                <a:latin typeface="Cambria" pitchFamily="34" charset="0"/>
                <a:ea typeface="Cambria" pitchFamily="34" charset="-122"/>
                <a:cs typeface="Cambria" pitchFamily="34" charset="-120"/>
              </a:rPr>
              <a:t>Men's Street Footwear leads every channel</a:t>
            </a:r>
            <a:endParaRPr lang="en-US" sz="3400" dirty="0"/>
          </a:p>
        </p:txBody>
      </p:sp>
      <p:graphicFrame>
        <p:nvGraphicFramePr>
          <p:cNvPr id="3" name="Chart 0" descr=""/>
          <p:cNvGraphicFramePr/>
          <p:nvPr/>
        </p:nvGraphicFramePr>
        <p:xfrm>
          <a:off x="502920" y="1234440"/>
          <a:ext cx="7406640" cy="4572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83880" y="1463040"/>
            <a:ext cx="3474720" cy="1965960"/>
          </a:xfrm>
          <a:prstGeom prst="roundRect">
            <a:avLst>
              <a:gd name="adj" fmla="val 4651"/>
            </a:avLst>
          </a:prstGeom>
          <a:solidFill>
            <a:srgbClr val="F4F6F7"/>
          </a:solidFill>
          <a:ln/>
        </p:spPr>
      </p:sp>
      <p:sp>
        <p:nvSpPr>
          <p:cNvPr id="5" name="Text 2"/>
          <p:cNvSpPr/>
          <p:nvPr/>
        </p:nvSpPr>
        <p:spPr>
          <a:xfrm>
            <a:off x="8412480" y="1645920"/>
            <a:ext cx="3017520" cy="685800"/>
          </a:xfrm>
          <a:prstGeom prst="rect">
            <a:avLst/>
          </a:prstGeom>
          <a:noFill/>
          <a:ln/>
        </p:spPr>
        <p:txBody>
          <a:bodyPr wrap="square" lIns="0" tIns="0" rIns="0" bIns="0" rtlCol="0" anchor="ctr"/>
          <a:lstStyle/>
          <a:p>
            <a:pPr indent="0" marL="0">
              <a:buNone/>
            </a:pPr>
            <a:r>
              <a:rPr lang="en-US" sz="3600" b="1" dirty="0">
                <a:solidFill>
                  <a:srgbClr val="E4572E"/>
                </a:solidFill>
                <a:latin typeface="Cambria" pitchFamily="34" charset="0"/>
                <a:ea typeface="Cambria" pitchFamily="34" charset="-122"/>
                <a:cs typeface="Cambria" pitchFamily="34" charset="-120"/>
              </a:rPr>
              <a:t>$22.7M</a:t>
            </a:r>
            <a:endParaRPr lang="en-US" sz="3600" dirty="0"/>
          </a:p>
        </p:txBody>
      </p:sp>
      <p:sp>
        <p:nvSpPr>
          <p:cNvPr id="6" name="Text 3"/>
          <p:cNvSpPr/>
          <p:nvPr/>
        </p:nvSpPr>
        <p:spPr>
          <a:xfrm>
            <a:off x="8412480" y="2377440"/>
            <a:ext cx="3063240" cy="914400"/>
          </a:xfrm>
          <a:prstGeom prst="rect">
            <a:avLst/>
          </a:prstGeom>
          <a:noFill/>
          <a:ln/>
        </p:spPr>
        <p:txBody>
          <a:bodyPr wrap="square" lIns="0" tIns="0" rIns="0" bIns="0" rtlCol="0" anchor="ctr"/>
          <a:lstStyle/>
          <a:p>
            <a:pPr indent="0" marL="0">
              <a:buNone/>
            </a:pPr>
            <a:r>
              <a:rPr lang="en-US" sz="1300" dirty="0">
                <a:solidFill>
                  <a:srgbClr val="1B2A36"/>
                </a:solidFill>
                <a:latin typeface="Calibri" pitchFamily="34" charset="0"/>
                <a:ea typeface="Calibri" pitchFamily="34" charset="-122"/>
                <a:cs typeface="Calibri" pitchFamily="34" charset="-120"/>
              </a:rPr>
              <a:t>Men's Street Footwear — the #1 category, 23.7% of all 2021 revenue and 494K units.</a:t>
            </a:r>
            <a:endParaRPr lang="en-US" sz="1300" dirty="0"/>
          </a:p>
        </p:txBody>
      </p:sp>
      <p:sp>
        <p:nvSpPr>
          <p:cNvPr id="7" name="Text 4"/>
          <p:cNvSpPr/>
          <p:nvPr/>
        </p:nvSpPr>
        <p:spPr>
          <a:xfrm>
            <a:off x="8183880" y="3657600"/>
            <a:ext cx="3520440" cy="2103120"/>
          </a:xfrm>
          <a:prstGeom prst="rect">
            <a:avLst/>
          </a:prstGeom>
          <a:noFill/>
          <a:ln/>
        </p:spPr>
        <p:txBody>
          <a:bodyPr wrap="square" lIns="0" tIns="0" rIns="0" bIns="0" rtlCol="0" anchor="ctr"/>
          <a:lstStyle/>
          <a:p>
            <a:pPr indent="0" marL="0">
              <a:buNone/>
            </a:pPr>
            <a:r>
              <a:rPr lang="en-US" sz="1500" b="1" dirty="0">
                <a:solidFill>
                  <a:srgbClr val="12324F"/>
                </a:solidFill>
                <a:latin typeface="Calibri" pitchFamily="34" charset="0"/>
                <a:ea typeface="Calibri" pitchFamily="34" charset="-122"/>
                <a:cs typeface="Calibri" pitchFamily="34" charset="-120"/>
              </a:rPr>
              <a:t>What it means</a:t>
            </a:r>
            <a:endParaRPr lang="en-US" sz="1500" dirty="0"/>
          </a:p>
          <a:p>
            <a:pPr indent="0" marL="0">
              <a:buNone/>
            </a:pPr>
            <a:r>
              <a:rPr lang="en-US" sz="1300" dirty="0">
                <a:solidFill>
                  <a:srgbClr val="1B2A36"/>
                </a:solidFill>
                <a:latin typeface="Calibri" pitchFamily="34" charset="0"/>
                <a:ea typeface="Calibri" pitchFamily="34" charset="-122"/>
                <a:cs typeface="Calibri" pitchFamily="34" charset="-120"/>
              </a:rPr>
              <a:t>Men's lines are 54% of revenue overall, but women's apparel is the single fastest riser and already out-sells three men's categories. The catalogue is balanced — the exposure is in distribution, not product.</a:t>
            </a:r>
            <a:endParaRPr lang="en-US" sz="1500" dirty="0"/>
          </a:p>
        </p:txBody>
      </p:sp>
      <p:sp>
        <p:nvSpPr>
          <p:cNvPr id="8" name="Text 5"/>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AA5AD"/>
                </a:solidFill>
                <a:latin typeface="Calibri" pitchFamily="34" charset="0"/>
                <a:ea typeface="Calibri" pitchFamily="34" charset="-122"/>
                <a:cs typeface="Calibri" pitchFamily="34" charset="-120"/>
              </a:rPr>
              <a:t>RUSH · US Sales Review · FY2021</a:t>
            </a:r>
            <a:endParaRPr lang="en-US" sz="900" dirty="0"/>
          </a:p>
        </p:txBody>
      </p:sp>
      <p:sp>
        <p:nvSpPr>
          <p:cNvPr id="9" name="Text 6"/>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900" dirty="0">
                <a:solidFill>
                  <a:srgbClr val="9AA5A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2324F"/>
                </a:solidFill>
                <a:latin typeface="Cambria" pitchFamily="34" charset="0"/>
                <a:ea typeface="Cambria" pitchFamily="34" charset="-122"/>
                <a:cs typeface="Cambria" pitchFamily="34" charset="-120"/>
              </a:rPr>
              <a:t>78% of growth came from two brand-new partners</a:t>
            </a:r>
            <a:endParaRPr lang="en-US" sz="3400" dirty="0"/>
          </a:p>
        </p:txBody>
      </p:sp>
      <p:graphicFrame>
        <p:nvGraphicFramePr>
          <p:cNvPr id="3" name="Chart 0" descr=""/>
          <p:cNvGraphicFramePr/>
          <p:nvPr/>
        </p:nvGraphicFramePr>
        <p:xfrm>
          <a:off x="502920" y="1234440"/>
          <a:ext cx="758952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366760" y="1371600"/>
            <a:ext cx="3291840" cy="2011680"/>
          </a:xfrm>
          <a:prstGeom prst="roundRect">
            <a:avLst>
              <a:gd name="adj" fmla="val 4545"/>
            </a:avLst>
          </a:prstGeom>
          <a:solidFill>
            <a:srgbClr val="12324F"/>
          </a:solidFill>
          <a:ln/>
        </p:spPr>
      </p:sp>
      <p:sp>
        <p:nvSpPr>
          <p:cNvPr id="5" name="Text 2"/>
          <p:cNvSpPr/>
          <p:nvPr/>
        </p:nvSpPr>
        <p:spPr>
          <a:xfrm>
            <a:off x="8595360" y="1554480"/>
            <a:ext cx="2880360" cy="1691640"/>
          </a:xfrm>
          <a:prstGeom prst="rect">
            <a:avLst/>
          </a:prstGeom>
          <a:noFill/>
          <a:ln/>
        </p:spPr>
        <p:txBody>
          <a:bodyPr wrap="square" lIns="0" tIns="0" rIns="0" bIns="0" rtlCol="0" anchor="ctr"/>
          <a:lstStyle/>
          <a:p>
            <a:pPr indent="0" marL="0">
              <a:buNone/>
            </a:pPr>
            <a:r>
              <a:rPr lang="en-US" sz="1400" b="1" dirty="0">
                <a:solidFill>
                  <a:srgbClr val="9FB3C2"/>
                </a:solidFill>
                <a:latin typeface="Calibri" pitchFamily="34" charset="0"/>
                <a:ea typeface="Calibri" pitchFamily="34" charset="-122"/>
                <a:cs typeface="Calibri" pitchFamily="34" charset="-120"/>
              </a:rPr>
              <a:t>New in 2021</a:t>
            </a:r>
            <a:endParaRPr lang="en-US" sz="1400" dirty="0"/>
          </a:p>
          <a:p>
            <a:pPr indent="0" marL="0">
              <a:buNone/>
            </a:pPr>
            <a:r>
              <a:rPr lang="en-US" sz="3200" b="1" dirty="0">
                <a:solidFill>
                  <a:srgbClr val="FFFFFF"/>
                </a:solidFill>
                <a:latin typeface="Cambria" pitchFamily="34" charset="0"/>
                <a:ea typeface="Cambria" pitchFamily="34" charset="-122"/>
                <a:cs typeface="Cambria" pitchFamily="34" charset="-120"/>
              </a:rPr>
              <a:t>$55.9M</a:t>
            </a:r>
            <a:endParaRPr lang="en-US" sz="1400" dirty="0"/>
          </a:p>
          <a:p>
            <a:pPr indent="0" marL="0">
              <a:buNone/>
            </a:pPr>
            <a:r>
              <a:rPr lang="en-US" sz="1200" dirty="0">
                <a:solidFill>
                  <a:srgbClr val="D8E3EA"/>
                </a:solidFill>
                <a:latin typeface="Calibri" pitchFamily="34" charset="0"/>
                <a:ea typeface="Calibri" pitchFamily="34" charset="-122"/>
                <a:cs typeface="Calibri" pitchFamily="34" charset="-120"/>
              </a:rPr>
              <a:t>Foot Locker and Walmart, from a standing start</a:t>
            </a:r>
            <a:endParaRPr lang="en-US" sz="1400" dirty="0"/>
          </a:p>
        </p:txBody>
      </p:sp>
      <p:sp>
        <p:nvSpPr>
          <p:cNvPr id="6" name="Shape 3"/>
          <p:cNvSpPr/>
          <p:nvPr/>
        </p:nvSpPr>
        <p:spPr>
          <a:xfrm>
            <a:off x="8366760" y="3611880"/>
            <a:ext cx="3291840" cy="2148840"/>
          </a:xfrm>
          <a:prstGeom prst="roundRect">
            <a:avLst>
              <a:gd name="adj" fmla="val 4255"/>
            </a:avLst>
          </a:prstGeom>
          <a:solidFill>
            <a:srgbClr val="FBEAE3"/>
          </a:solidFill>
          <a:ln/>
        </p:spPr>
      </p:sp>
      <p:sp>
        <p:nvSpPr>
          <p:cNvPr id="7" name="Text 4"/>
          <p:cNvSpPr/>
          <p:nvPr/>
        </p:nvSpPr>
        <p:spPr>
          <a:xfrm>
            <a:off x="8595360" y="3794760"/>
            <a:ext cx="2880360" cy="1828800"/>
          </a:xfrm>
          <a:prstGeom prst="rect">
            <a:avLst/>
          </a:prstGeom>
          <a:noFill/>
          <a:ln/>
        </p:spPr>
        <p:txBody>
          <a:bodyPr wrap="square" lIns="0" tIns="0" rIns="0" bIns="0" rtlCol="0" anchor="ctr"/>
          <a:lstStyle/>
          <a:p>
            <a:pPr indent="0" marL="0">
              <a:buNone/>
            </a:pPr>
            <a:r>
              <a:rPr lang="en-US" sz="1400" b="1" dirty="0">
                <a:solidFill>
                  <a:srgbClr val="8A3418"/>
                </a:solidFill>
                <a:latin typeface="Calibri" pitchFamily="34" charset="0"/>
                <a:ea typeface="Calibri" pitchFamily="34" charset="-122"/>
                <a:cs typeface="Calibri" pitchFamily="34" charset="-120"/>
              </a:rPr>
              <a:t>The one to watch</a:t>
            </a:r>
            <a:endParaRPr lang="en-US" sz="1400" dirty="0"/>
          </a:p>
          <a:p>
            <a:pPr indent="0" marL="0">
              <a:buNone/>
            </a:pPr>
            <a:r>
              <a:rPr lang="en-US" sz="3200" b="1" dirty="0">
                <a:solidFill>
                  <a:srgbClr val="E4572E"/>
                </a:solidFill>
                <a:latin typeface="Cambria" pitchFamily="34" charset="0"/>
                <a:ea typeface="Cambria" pitchFamily="34" charset="-122"/>
                <a:cs typeface="Cambria" pitchFamily="34" charset="-120"/>
              </a:rPr>
              <a:t>−40%</a:t>
            </a:r>
            <a:endParaRPr lang="en-US" sz="1400" dirty="0"/>
          </a:p>
          <a:p>
            <a:pPr indent="0" marL="0">
              <a:buNone/>
            </a:pPr>
            <a:r>
              <a:rPr lang="en-US" sz="1200" dirty="0">
                <a:solidFill>
                  <a:srgbClr val="6B3423"/>
                </a:solidFill>
                <a:latin typeface="Calibri" pitchFamily="34" charset="0"/>
                <a:ea typeface="Calibri" pitchFamily="34" charset="-122"/>
                <a:cs typeface="Calibri" pitchFamily="34" charset="-120"/>
              </a:rPr>
              <a:t>Amazon fell $17.5M → $10.5M. It was our #1 account in 2020 and is the only partner in decline.</a:t>
            </a:r>
            <a:endParaRPr lang="en-US" sz="1400" dirty="0"/>
          </a:p>
        </p:txBody>
      </p:sp>
      <p:sp>
        <p:nvSpPr>
          <p:cNvPr id="8" name="Text 5"/>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AA5AD"/>
                </a:solidFill>
                <a:latin typeface="Calibri" pitchFamily="34" charset="0"/>
                <a:ea typeface="Calibri" pitchFamily="34" charset="-122"/>
                <a:cs typeface="Calibri" pitchFamily="34" charset="-120"/>
              </a:rPr>
              <a:t>RUSH · US Sales Review · FY2021</a:t>
            </a:r>
            <a:endParaRPr lang="en-US" sz="900" dirty="0"/>
          </a:p>
        </p:txBody>
      </p:sp>
      <p:sp>
        <p:nvSpPr>
          <p:cNvPr id="9" name="Text 6"/>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900" dirty="0">
                <a:solidFill>
                  <a:srgbClr val="9AA5A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2324F"/>
                </a:solidFill>
                <a:latin typeface="Cambria" pitchFamily="34" charset="0"/>
                <a:ea typeface="Cambria" pitchFamily="34" charset="-122"/>
                <a:cs typeface="Cambria" pitchFamily="34" charset="-120"/>
              </a:rPr>
              <a:t>Online is our biggest and best-margin channel</a:t>
            </a:r>
            <a:endParaRPr lang="en-US" sz="3400" dirty="0"/>
          </a:p>
        </p:txBody>
      </p:sp>
      <p:sp>
        <p:nvSpPr>
          <p:cNvPr id="3" name="Text 1"/>
          <p:cNvSpPr/>
          <p:nvPr/>
        </p:nvSpPr>
        <p:spPr>
          <a:xfrm>
            <a:off x="548640" y="1188720"/>
            <a:ext cx="5303520" cy="320040"/>
          </a:xfrm>
          <a:prstGeom prst="rect">
            <a:avLst/>
          </a:prstGeom>
          <a:noFill/>
          <a:ln/>
        </p:spPr>
        <p:txBody>
          <a:bodyPr wrap="square" lIns="0" tIns="0" rIns="0" bIns="0" rtlCol="0" anchor="ctr"/>
          <a:lstStyle/>
          <a:p>
            <a:pPr indent="0" marL="0">
              <a:buNone/>
            </a:pPr>
            <a:r>
              <a:rPr lang="en-US" sz="1400" b="1" dirty="0">
                <a:solidFill>
                  <a:srgbClr val="5A6B78"/>
                </a:solidFill>
                <a:latin typeface="Calibri" pitchFamily="34" charset="0"/>
                <a:ea typeface="Calibri" pitchFamily="34" charset="-122"/>
                <a:cs typeface="Calibri" pitchFamily="34" charset="-120"/>
              </a:rPr>
              <a:t>Share of revenue by channel</a:t>
            </a:r>
            <a:endParaRPr lang="en-US" sz="1400" dirty="0"/>
          </a:p>
        </p:txBody>
      </p:sp>
      <p:graphicFrame>
        <p:nvGraphicFramePr>
          <p:cNvPr id="4" name="Chart 0" descr=""/>
          <p:cNvGraphicFramePr/>
          <p:nvPr/>
        </p:nvGraphicFramePr>
        <p:xfrm>
          <a:off x="457200" y="1554480"/>
          <a:ext cx="557784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309360" y="1188720"/>
            <a:ext cx="5303520" cy="320040"/>
          </a:xfrm>
          <a:prstGeom prst="rect">
            <a:avLst/>
          </a:prstGeom>
          <a:noFill/>
          <a:ln/>
        </p:spPr>
        <p:txBody>
          <a:bodyPr wrap="square" lIns="0" tIns="0" rIns="0" bIns="0" rtlCol="0" anchor="ctr"/>
          <a:lstStyle/>
          <a:p>
            <a:pPr indent="0" marL="0">
              <a:buNone/>
            </a:pPr>
            <a:r>
              <a:rPr lang="en-US" sz="1400" b="1" dirty="0">
                <a:solidFill>
                  <a:srgbClr val="5A6B78"/>
                </a:solidFill>
                <a:latin typeface="Calibri" pitchFamily="34" charset="0"/>
                <a:ea typeface="Calibri" pitchFamily="34" charset="-122"/>
                <a:cs typeface="Calibri" pitchFamily="34" charset="-120"/>
              </a:rPr>
              <a:t>Average operating margin by channel</a:t>
            </a:r>
            <a:endParaRPr lang="en-US" sz="1400" dirty="0"/>
          </a:p>
        </p:txBody>
      </p:sp>
      <p:graphicFrame>
        <p:nvGraphicFramePr>
          <p:cNvPr id="6" name="Chart 1" descr=""/>
          <p:cNvGraphicFramePr/>
          <p:nvPr/>
        </p:nvGraphicFramePr>
        <p:xfrm>
          <a:off x="6217920" y="1600200"/>
          <a:ext cx="5394960" cy="23774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6217920" y="4160520"/>
            <a:ext cx="5394960" cy="1600200"/>
          </a:xfrm>
          <a:prstGeom prst="roundRect">
            <a:avLst>
              <a:gd name="adj" fmla="val 5714"/>
            </a:avLst>
          </a:prstGeom>
          <a:solidFill>
            <a:srgbClr val="F4F6F7"/>
          </a:solidFill>
          <a:ln/>
        </p:spPr>
      </p:sp>
      <p:sp>
        <p:nvSpPr>
          <p:cNvPr id="8" name="Text 4"/>
          <p:cNvSpPr/>
          <p:nvPr/>
        </p:nvSpPr>
        <p:spPr>
          <a:xfrm>
            <a:off x="6446520" y="4343400"/>
            <a:ext cx="4937760" cy="1280160"/>
          </a:xfrm>
          <a:prstGeom prst="rect">
            <a:avLst/>
          </a:prstGeom>
          <a:noFill/>
          <a:ln/>
        </p:spPr>
        <p:txBody>
          <a:bodyPr wrap="square" lIns="0" tIns="0" rIns="0" bIns="0" rtlCol="0" anchor="ctr"/>
          <a:lstStyle/>
          <a:p>
            <a:pPr indent="0" marL="0">
              <a:buNone/>
            </a:pPr>
            <a:r>
              <a:rPr lang="en-US" sz="1300" b="1" dirty="0">
                <a:solidFill>
                  <a:srgbClr val="12324F"/>
                </a:solidFill>
                <a:latin typeface="Calibri" pitchFamily="34" charset="0"/>
                <a:ea typeface="Calibri" pitchFamily="34" charset="-122"/>
                <a:cs typeface="Calibri" pitchFamily="34" charset="-120"/>
              </a:rPr>
              <a:t>Rare and worth pressing: </a:t>
            </a:r>
            <a:pPr indent="0" marL="0">
              <a:buNone/>
            </a:pPr>
            <a:r>
              <a:rPr lang="en-US" sz="1300" dirty="0">
                <a:solidFill>
                  <a:srgbClr val="1B2A36"/>
                </a:solidFill>
                <a:latin typeface="Calibri" pitchFamily="34" charset="0"/>
                <a:ea typeface="Calibri" pitchFamily="34" charset="-122"/>
                <a:cs typeface="Calibri" pitchFamily="34" charset="-120"/>
              </a:rPr>
              <a:t>our fastest-growing channel is also our highest-margin one. Online went from 19% to 42% of revenue — a $35.9M swing — and mix shift alone lifted company margin from 37.2% to 39.8%.</a:t>
            </a:r>
            <a:endParaRPr lang="en-US" sz="1300" dirty="0"/>
          </a:p>
        </p:txBody>
      </p:sp>
      <p:sp>
        <p:nvSpPr>
          <p:cNvPr id="9" name="Text 5"/>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AA5AD"/>
                </a:solidFill>
                <a:latin typeface="Calibri" pitchFamily="34" charset="0"/>
                <a:ea typeface="Calibri" pitchFamily="34" charset="-122"/>
                <a:cs typeface="Calibri" pitchFamily="34" charset="-120"/>
              </a:rPr>
              <a:t>RUSH · US Sales Review · FY2021</a:t>
            </a:r>
            <a:endParaRPr lang="en-US" sz="900" dirty="0"/>
          </a:p>
        </p:txBody>
      </p:sp>
      <p:sp>
        <p:nvSpPr>
          <p:cNvPr id="10" name="Text 6"/>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900" dirty="0">
                <a:solidFill>
                  <a:srgbClr val="9AA5A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2324F"/>
                </a:solidFill>
                <a:latin typeface="Cambria" pitchFamily="34" charset="0"/>
                <a:ea typeface="Cambria" pitchFamily="34" charset="-122"/>
                <a:cs typeface="Cambria" pitchFamily="34" charset="-120"/>
              </a:rPr>
              <a:t>Plan on the 2021 curve, not the 2020 one</a:t>
            </a:r>
            <a:endParaRPr lang="en-US" sz="3400" dirty="0"/>
          </a:p>
        </p:txBody>
      </p:sp>
      <p:graphicFrame>
        <p:nvGraphicFramePr>
          <p:cNvPr id="3" name="Chart 0" descr=""/>
          <p:cNvGraphicFramePr/>
          <p:nvPr/>
        </p:nvGraphicFramePr>
        <p:xfrm>
          <a:off x="502920" y="1234440"/>
          <a:ext cx="76809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8458200" y="1463040"/>
            <a:ext cx="3200400" cy="4206240"/>
          </a:xfrm>
          <a:prstGeom prst="rect">
            <a:avLst/>
          </a:prstGeom>
          <a:noFill/>
          <a:ln/>
        </p:spPr>
        <p:txBody>
          <a:bodyPr wrap="square" lIns="0" tIns="0" rIns="0" bIns="0" rtlCol="0" anchor="ctr"/>
          <a:lstStyle/>
          <a:p>
            <a:pPr indent="0" marL="0">
              <a:buNone/>
            </a:pPr>
            <a:r>
              <a:rPr lang="en-US" sz="1500" b="1" dirty="0">
                <a:solidFill>
                  <a:srgbClr val="12324F"/>
                </a:solidFill>
                <a:latin typeface="Calibri" pitchFamily="34" charset="0"/>
                <a:ea typeface="Calibri" pitchFamily="34" charset="-122"/>
                <a:cs typeface="Calibri" pitchFamily="34" charset="-120"/>
              </a:rPr>
              <a:t>2020 was not a demand signal</a:t>
            </a:r>
            <a:endParaRPr lang="en-US" sz="1500" dirty="0"/>
          </a:p>
          <a:p>
            <a:pPr indent="0" marL="0">
              <a:buNone/>
            </a:pPr>
            <a:r>
              <a:rPr lang="en-US" sz="1300" dirty="0">
                <a:solidFill>
                  <a:srgbClr val="1B2A36"/>
                </a:solidFill>
                <a:latin typeface="Calibri" pitchFamily="34" charset="0"/>
                <a:ea typeface="Calibri" pitchFamily="34" charset="-122"/>
                <a:cs typeface="Calibri" pitchFamily="34" charset="-120"/>
              </a:rPr>
              <a:t>It peaked in April and bottomed in June — the shape of store closures, not of customers.</a:t>
            </a:r>
            <a:endParaRPr lang="en-US" sz="1500" dirty="0"/>
          </a:p>
          <a:p>
            <a:pPr indent="0" marL="0">
              <a:buNone/>
            </a:pPr>
            <a:r>
              <a:rPr lang="en-US" sz="800" dirty="0">
                <a:solidFill>
                  <a:srgbClr val="1B2A36"/>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2324F"/>
                </a:solidFill>
                <a:latin typeface="Calibri" pitchFamily="34" charset="0"/>
                <a:ea typeface="Calibri" pitchFamily="34" charset="-122"/>
                <a:cs typeface="Calibri" pitchFamily="34" charset="-120"/>
              </a:rPr>
              <a:t>2021 shows a normal retail rhythm</a:t>
            </a:r>
            <a:endParaRPr lang="en-US" sz="1500" dirty="0"/>
          </a:p>
          <a:p>
            <a:pPr indent="0" marL="0">
              <a:buNone/>
            </a:pPr>
            <a:r>
              <a:rPr lang="en-US" sz="1300" dirty="0">
                <a:solidFill>
                  <a:srgbClr val="1B2A36"/>
                </a:solidFill>
                <a:latin typeface="Calibri" pitchFamily="34" charset="0"/>
                <a:ea typeface="Calibri" pitchFamily="34" charset="-122"/>
                <a:cs typeface="Calibri" pitchFamily="34" charset="-120"/>
              </a:rPr>
              <a:t>A July peak ($10.4M) and a December peak ($10.3M), with a March trough. 56% of the year landed in H2.</a:t>
            </a:r>
            <a:endParaRPr lang="en-US" sz="1500" dirty="0"/>
          </a:p>
          <a:p>
            <a:pPr indent="0" marL="0">
              <a:buNone/>
            </a:pPr>
            <a:r>
              <a:rPr lang="en-US" sz="800" dirty="0">
                <a:solidFill>
                  <a:srgbClr val="1B2A36"/>
                </a:solidFill>
                <a:latin typeface="Calibri" pitchFamily="34" charset="0"/>
                <a:ea typeface="Calibri" pitchFamily="34" charset="-122"/>
                <a:cs typeface="Calibri" pitchFamily="34" charset="-120"/>
              </a:rPr>
              <a:t> </a:t>
            </a:r>
            <a:endParaRPr lang="en-US" sz="1500" dirty="0"/>
          </a:p>
          <a:p>
            <a:pPr indent="0" marL="0">
              <a:buNone/>
            </a:pPr>
            <a:r>
              <a:rPr lang="en-US" sz="1300" i="1" dirty="0">
                <a:solidFill>
                  <a:srgbClr val="E4572E"/>
                </a:solidFill>
                <a:latin typeface="Calibri" pitchFamily="34" charset="0"/>
                <a:ea typeface="Calibri" pitchFamily="34" charset="-122"/>
                <a:cs typeface="Calibri" pitchFamily="34" charset="-120"/>
              </a:rPr>
              <a:t>So: build the 2022 inventory and promo calendar on 2021, and staff for summer and holiday peaks.</a:t>
            </a:r>
            <a:endParaRPr lang="en-US" sz="1500" dirty="0"/>
          </a:p>
        </p:txBody>
      </p:sp>
      <p:sp>
        <p:nvSpPr>
          <p:cNvPr id="5" name="Text 2"/>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AA5AD"/>
                </a:solidFill>
                <a:latin typeface="Calibri" pitchFamily="34" charset="0"/>
                <a:ea typeface="Calibri" pitchFamily="34" charset="-122"/>
                <a:cs typeface="Calibri" pitchFamily="34" charset="-120"/>
              </a:rPr>
              <a:t>RUSH · US Sales Review · FY2021</a:t>
            </a:r>
            <a:endParaRPr lang="en-US" sz="900" dirty="0"/>
          </a:p>
        </p:txBody>
      </p:sp>
      <p:sp>
        <p:nvSpPr>
          <p:cNvPr id="6" name="Text 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900" dirty="0">
                <a:solidFill>
                  <a:srgbClr val="9AA5A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2324F"/>
                </a:solidFill>
                <a:latin typeface="Cambria" pitchFamily="34" charset="0"/>
                <a:ea typeface="Cambria" pitchFamily="34" charset="-122"/>
                <a:cs typeface="Cambria" pitchFamily="34" charset="-120"/>
              </a:rPr>
              <a:t>Two things the top-line number hides</a:t>
            </a:r>
            <a:endParaRPr lang="en-US" sz="3400" dirty="0"/>
          </a:p>
        </p:txBody>
      </p:sp>
      <p:sp>
        <p:nvSpPr>
          <p:cNvPr id="3" name="Shape 1"/>
          <p:cNvSpPr/>
          <p:nvPr/>
        </p:nvSpPr>
        <p:spPr>
          <a:xfrm>
            <a:off x="548640" y="1325880"/>
            <a:ext cx="5394960" cy="3017520"/>
          </a:xfrm>
          <a:prstGeom prst="roundRect">
            <a:avLst>
              <a:gd name="adj" fmla="val 3030"/>
            </a:avLst>
          </a:prstGeom>
          <a:solidFill>
            <a:srgbClr val="FBEAE3"/>
          </a:solidFill>
          <a:ln/>
        </p:spPr>
      </p:sp>
      <p:sp>
        <p:nvSpPr>
          <p:cNvPr id="4" name="Text 2"/>
          <p:cNvSpPr/>
          <p:nvPr/>
        </p:nvSpPr>
        <p:spPr>
          <a:xfrm>
            <a:off x="868680" y="1554480"/>
            <a:ext cx="4754880" cy="365760"/>
          </a:xfrm>
          <a:prstGeom prst="rect">
            <a:avLst/>
          </a:prstGeom>
          <a:noFill/>
          <a:ln/>
        </p:spPr>
        <p:txBody>
          <a:bodyPr wrap="square" lIns="0" tIns="0" rIns="0" bIns="0" rtlCol="0" anchor="ctr"/>
          <a:lstStyle/>
          <a:p>
            <a:pPr indent="0" marL="0">
              <a:buNone/>
            </a:pPr>
            <a:r>
              <a:rPr lang="en-US" sz="1700" b="1" dirty="0">
                <a:solidFill>
                  <a:srgbClr val="E4572E"/>
                </a:solidFill>
                <a:latin typeface="Cambria" pitchFamily="34" charset="0"/>
                <a:ea typeface="Cambria" pitchFamily="34" charset="-122"/>
                <a:cs typeface="Cambria" pitchFamily="34" charset="-120"/>
              </a:rPr>
              <a:t>Concentration</a:t>
            </a:r>
            <a:endParaRPr lang="en-US" sz="1700" dirty="0"/>
          </a:p>
        </p:txBody>
      </p:sp>
      <p:sp>
        <p:nvSpPr>
          <p:cNvPr id="5" name="Text 3"/>
          <p:cNvSpPr/>
          <p:nvPr/>
        </p:nvSpPr>
        <p:spPr>
          <a:xfrm>
            <a:off x="868680" y="1965960"/>
            <a:ext cx="4754880" cy="822960"/>
          </a:xfrm>
          <a:prstGeom prst="rect">
            <a:avLst/>
          </a:prstGeom>
          <a:noFill/>
          <a:ln/>
        </p:spPr>
        <p:txBody>
          <a:bodyPr wrap="square" lIns="0" tIns="0" rIns="0" bIns="0"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56%</a:t>
            </a:r>
            <a:endParaRPr lang="en-US" sz="4000" dirty="0"/>
          </a:p>
        </p:txBody>
      </p:sp>
      <p:sp>
        <p:nvSpPr>
          <p:cNvPr id="6" name="Text 4"/>
          <p:cNvSpPr/>
          <p:nvPr/>
        </p:nvSpPr>
        <p:spPr>
          <a:xfrm>
            <a:off x="868680" y="2697480"/>
            <a:ext cx="4754880" cy="1554480"/>
          </a:xfrm>
          <a:prstGeom prst="rect">
            <a:avLst/>
          </a:prstGeom>
          <a:noFill/>
          <a:ln/>
        </p:spPr>
        <p:txBody>
          <a:bodyPr wrap="square" lIns="0" tIns="0" rIns="0" bIns="0" rtlCol="0" anchor="ctr"/>
          <a:lstStyle/>
          <a:p>
            <a:pPr indent="0" marL="0">
              <a:buNone/>
            </a:pPr>
            <a:r>
              <a:rPr lang="en-US" sz="1350" dirty="0">
                <a:solidFill>
                  <a:srgbClr val="1B2A36"/>
                </a:solidFill>
                <a:latin typeface="Calibri" pitchFamily="34" charset="0"/>
                <a:ea typeface="Calibri" pitchFamily="34" charset="-122"/>
                <a:cs typeface="Calibri" pitchFamily="34" charset="-120"/>
              </a:rPr>
              <a:t>of 2021 revenue runs through Foot Locker alone, across 33 states. Losing or repricing that single account would move more revenue than the other five partners combined.</a:t>
            </a:r>
            <a:endParaRPr lang="en-US" sz="1350" dirty="0"/>
          </a:p>
        </p:txBody>
      </p:sp>
      <p:sp>
        <p:nvSpPr>
          <p:cNvPr id="7" name="Shape 5"/>
          <p:cNvSpPr/>
          <p:nvPr/>
        </p:nvSpPr>
        <p:spPr>
          <a:xfrm>
            <a:off x="6263640" y="1325880"/>
            <a:ext cx="5394960" cy="3017520"/>
          </a:xfrm>
          <a:prstGeom prst="roundRect">
            <a:avLst>
              <a:gd name="adj" fmla="val 3030"/>
            </a:avLst>
          </a:prstGeom>
          <a:solidFill>
            <a:srgbClr val="F4F6F7"/>
          </a:solidFill>
          <a:ln/>
        </p:spPr>
      </p:sp>
      <p:sp>
        <p:nvSpPr>
          <p:cNvPr id="8" name="Text 6"/>
          <p:cNvSpPr/>
          <p:nvPr/>
        </p:nvSpPr>
        <p:spPr>
          <a:xfrm>
            <a:off x="6583680" y="1554480"/>
            <a:ext cx="4754880" cy="365760"/>
          </a:xfrm>
          <a:prstGeom prst="rect">
            <a:avLst/>
          </a:prstGeom>
          <a:noFill/>
          <a:ln/>
        </p:spPr>
        <p:txBody>
          <a:bodyPr wrap="square" lIns="0" tIns="0" rIns="0" bIns="0" rtlCol="0" anchor="ctr"/>
          <a:lstStyle/>
          <a:p>
            <a:pPr indent="0" marL="0">
              <a:buNone/>
            </a:pPr>
            <a:r>
              <a:rPr lang="en-US" sz="1700" b="1" dirty="0">
                <a:solidFill>
                  <a:srgbClr val="12324F"/>
                </a:solidFill>
                <a:latin typeface="Cambria" pitchFamily="34" charset="0"/>
                <a:ea typeface="Cambria" pitchFamily="34" charset="-122"/>
                <a:cs typeface="Cambria" pitchFamily="34" charset="-120"/>
              </a:rPr>
              <a:t>Geography is an artifact</a:t>
            </a:r>
            <a:endParaRPr lang="en-US" sz="1700" dirty="0"/>
          </a:p>
        </p:txBody>
      </p:sp>
      <p:sp>
        <p:nvSpPr>
          <p:cNvPr id="9" name="Text 7"/>
          <p:cNvSpPr/>
          <p:nvPr/>
        </p:nvSpPr>
        <p:spPr>
          <a:xfrm>
            <a:off x="6583680" y="1965960"/>
            <a:ext cx="4754880" cy="822960"/>
          </a:xfrm>
          <a:prstGeom prst="rect">
            <a:avLst/>
          </a:prstGeom>
          <a:noFill/>
          <a:ln/>
        </p:spPr>
        <p:txBody>
          <a:bodyPr wrap="square" lIns="0" tIns="0" rIns="0" bIns="0" rtlCol="0" anchor="ctr"/>
          <a:lstStyle/>
          <a:p>
            <a:pPr indent="0" marL="0">
              <a:buNone/>
            </a:pPr>
            <a:r>
              <a:rPr lang="en-US" sz="4000" b="1" dirty="0">
                <a:solidFill>
                  <a:srgbClr val="12324F"/>
                </a:solidFill>
                <a:latin typeface="Cambria" pitchFamily="34" charset="0"/>
                <a:ea typeface="Cambria" pitchFamily="34" charset="-122"/>
                <a:cs typeface="Cambria" pitchFamily="34" charset="-120"/>
              </a:rPr>
              <a:t>Top 3 states</a:t>
            </a:r>
            <a:endParaRPr lang="en-US" sz="4000" dirty="0"/>
          </a:p>
        </p:txBody>
      </p:sp>
      <p:sp>
        <p:nvSpPr>
          <p:cNvPr id="10" name="Text 8"/>
          <p:cNvSpPr/>
          <p:nvPr/>
        </p:nvSpPr>
        <p:spPr>
          <a:xfrm>
            <a:off x="6583680" y="2697480"/>
            <a:ext cx="4754880" cy="1554480"/>
          </a:xfrm>
          <a:prstGeom prst="rect">
            <a:avLst/>
          </a:prstGeom>
          <a:noFill/>
          <a:ln/>
        </p:spPr>
        <p:txBody>
          <a:bodyPr wrap="square" lIns="0" tIns="0" rIns="0" bIns="0" rtlCol="0" anchor="ctr"/>
          <a:lstStyle/>
          <a:p>
            <a:pPr indent="0" marL="0">
              <a:buNone/>
            </a:pPr>
            <a:r>
              <a:rPr lang="en-US" sz="1350" dirty="0">
                <a:solidFill>
                  <a:srgbClr val="1B2A36"/>
                </a:solidFill>
                <a:latin typeface="Calibri" pitchFamily="34" charset="0"/>
                <a:ea typeface="Calibri" pitchFamily="34" charset="-122"/>
                <a:cs typeface="Calibri" pitchFamily="34" charset="-120"/>
              </a:rPr>
              <a:t>are Maine, Delaware and New Hampshire — three of the smallest states in the country. They rank first because of who sells there: Maine is essentially one Amazon location. Read state rankings as account performance, not market size.</a:t>
            </a:r>
            <a:endParaRPr lang="en-US" sz="1350" dirty="0"/>
          </a:p>
        </p:txBody>
      </p:sp>
      <p:sp>
        <p:nvSpPr>
          <p:cNvPr id="11" name="Shape 9"/>
          <p:cNvSpPr/>
          <p:nvPr/>
        </p:nvSpPr>
        <p:spPr>
          <a:xfrm>
            <a:off x="548640" y="4754880"/>
            <a:ext cx="11109960" cy="1097280"/>
          </a:xfrm>
          <a:prstGeom prst="roundRect">
            <a:avLst>
              <a:gd name="adj" fmla="val 8333"/>
            </a:avLst>
          </a:prstGeom>
          <a:solidFill>
            <a:srgbClr val="12324F"/>
          </a:solidFill>
          <a:ln/>
        </p:spPr>
      </p:sp>
      <p:sp>
        <p:nvSpPr>
          <p:cNvPr id="12" name="Text 10"/>
          <p:cNvSpPr/>
          <p:nvPr/>
        </p:nvSpPr>
        <p:spPr>
          <a:xfrm>
            <a:off x="868680" y="4937760"/>
            <a:ext cx="10515600" cy="822960"/>
          </a:xfrm>
          <a:prstGeom prst="rect">
            <a:avLst/>
          </a:prstGeom>
          <a:noFill/>
          <a:ln/>
        </p:spPr>
        <p:txBody>
          <a:bodyPr wrap="square" lIns="0" tIns="0" rIns="0" bIns="0" rtlCol="0" anchor="ctr"/>
          <a:lstStyle/>
          <a:p>
            <a:pPr indent="0" marL="0">
              <a:buNone/>
            </a:pPr>
            <a:r>
              <a:rPr lang="en-US" sz="1350" b="1" dirty="0">
                <a:solidFill>
                  <a:srgbClr val="D8E3EA"/>
                </a:solidFill>
                <a:latin typeface="Calibri" pitchFamily="34" charset="0"/>
                <a:ea typeface="Calibri" pitchFamily="34" charset="-122"/>
                <a:cs typeface="Calibri" pitchFamily="34" charset="-120"/>
              </a:rPr>
              <a:t>Where the white space is:  </a:t>
            </a:r>
            <a:pPr indent="0" marL="0">
              <a:buNone/>
            </a:pPr>
            <a:r>
              <a:rPr lang="en-US" sz="1350" dirty="0">
                <a:solidFill>
                  <a:srgbClr val="D8E3EA"/>
                </a:solidFill>
                <a:latin typeface="Calibri" pitchFamily="34" charset="0"/>
                <a:ea typeface="Calibri" pitchFamily="34" charset="-122"/>
                <a:cs typeface="Calibri" pitchFamily="34" charset="-120"/>
              </a:rPr>
              <a:t>the South and Southeast return the highest operating margins (47% and 45%) on the lowest revenue of any region ($9.0M and $9.4M). Walmart — the largest physical footprint in the country — is live in only 6 states and $2.3M.</a:t>
            </a:r>
            <a:endParaRPr lang="en-US" sz="1350" dirty="0"/>
          </a:p>
        </p:txBody>
      </p:sp>
      <p:sp>
        <p:nvSpPr>
          <p:cNvPr id="13" name="Text 11"/>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AA5AD"/>
                </a:solidFill>
                <a:latin typeface="Calibri" pitchFamily="34" charset="0"/>
                <a:ea typeface="Calibri" pitchFamily="34" charset="-122"/>
                <a:cs typeface="Calibri" pitchFamily="34" charset="-120"/>
              </a:rPr>
              <a:t>RUSH · US Sales Review · FY2021</a:t>
            </a:r>
            <a:endParaRPr lang="en-US" sz="900" dirty="0"/>
          </a:p>
        </p:txBody>
      </p:sp>
      <p:sp>
        <p:nvSpPr>
          <p:cNvPr id="14" name="Text 12"/>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900" dirty="0">
                <a:solidFill>
                  <a:srgbClr val="9AA5A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13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138"/>
          </a:solidFill>
          <a:ln/>
        </p:spPr>
      </p:sp>
      <p:sp>
        <p:nvSpPr>
          <p:cNvPr id="3" name="Shape 1"/>
          <p:cNvSpPr/>
          <p:nvPr/>
        </p:nvSpPr>
        <p:spPr>
          <a:xfrm>
            <a:off x="-1645920" y="4206240"/>
            <a:ext cx="4572000" cy="4572000"/>
          </a:xfrm>
          <a:prstGeom prst="ellipse">
            <a:avLst/>
          </a:prstGeom>
          <a:solidFill>
            <a:srgbClr val="12324F">
              <a:alpha val="65000"/>
            </a:srgbClr>
          </a:solidFill>
          <a:ln/>
        </p:spPr>
      </p:sp>
      <p:sp>
        <p:nvSpPr>
          <p:cNvPr id="4" name="Text 2"/>
          <p:cNvSpPr/>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I'd do next</a:t>
            </a:r>
            <a:endParaRPr lang="en-US" sz="3400" dirty="0"/>
          </a:p>
        </p:txBody>
      </p:sp>
      <p:sp>
        <p:nvSpPr>
          <p:cNvPr id="5" name="Text 3"/>
          <p:cNvSpPr/>
          <p:nvPr/>
        </p:nvSpPr>
        <p:spPr>
          <a:xfrm>
            <a:off x="685800" y="1371600"/>
            <a:ext cx="822960" cy="548640"/>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600200" y="1353312"/>
            <a:ext cx="57607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Open an account review with Amazon</a:t>
            </a:r>
            <a:endParaRPr lang="en-US" sz="1700" dirty="0"/>
          </a:p>
        </p:txBody>
      </p:sp>
      <p:sp>
        <p:nvSpPr>
          <p:cNvPr id="7" name="Text 5"/>
          <p:cNvSpPr/>
          <p:nvPr/>
        </p:nvSpPr>
        <p:spPr>
          <a:xfrm>
            <a:off x="1600200" y="1719072"/>
            <a:ext cx="9692640" cy="365760"/>
          </a:xfrm>
          <a:prstGeom prst="rect">
            <a:avLst/>
          </a:prstGeom>
          <a:noFill/>
          <a:ln/>
        </p:spPr>
        <p:txBody>
          <a:bodyPr wrap="square" lIns="0" tIns="0" rIns="0" bIns="0" rtlCol="0" anchor="ctr"/>
          <a:lstStyle/>
          <a:p>
            <a:pPr indent="0" marL="0">
              <a:buNone/>
            </a:pPr>
            <a:r>
              <a:rPr lang="en-US" sz="1300" dirty="0">
                <a:solidFill>
                  <a:srgbClr val="9FB3C2"/>
                </a:solidFill>
                <a:latin typeface="Calibri" pitchFamily="34" charset="0"/>
                <a:ea typeface="Calibri" pitchFamily="34" charset="-122"/>
                <a:cs typeface="Calibri" pitchFamily="34" charset="-120"/>
              </a:rPr>
              <a:t>$7.1M lost year over year while every other partner grew.</a:t>
            </a:r>
            <a:endParaRPr lang="en-US" sz="1300" dirty="0"/>
          </a:p>
        </p:txBody>
      </p:sp>
      <p:sp>
        <p:nvSpPr>
          <p:cNvPr id="8" name="Text 6"/>
          <p:cNvSpPr/>
          <p:nvPr/>
        </p:nvSpPr>
        <p:spPr>
          <a:xfrm>
            <a:off x="685800" y="2340864"/>
            <a:ext cx="822960" cy="548640"/>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02</a:t>
            </a:r>
            <a:endParaRPr lang="en-US" sz="2600" dirty="0"/>
          </a:p>
        </p:txBody>
      </p:sp>
      <p:sp>
        <p:nvSpPr>
          <p:cNvPr id="9" name="Text 7"/>
          <p:cNvSpPr/>
          <p:nvPr/>
        </p:nvSpPr>
        <p:spPr>
          <a:xfrm>
            <a:off x="1600200" y="2322576"/>
            <a:ext cx="57607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Push the mix further online</a:t>
            </a:r>
            <a:endParaRPr lang="en-US" sz="1700" dirty="0"/>
          </a:p>
        </p:txBody>
      </p:sp>
      <p:sp>
        <p:nvSpPr>
          <p:cNvPr id="10" name="Text 8"/>
          <p:cNvSpPr/>
          <p:nvPr/>
        </p:nvSpPr>
        <p:spPr>
          <a:xfrm>
            <a:off x="1600200" y="2688336"/>
            <a:ext cx="9692640" cy="365760"/>
          </a:xfrm>
          <a:prstGeom prst="rect">
            <a:avLst/>
          </a:prstGeom>
          <a:noFill/>
          <a:ln/>
        </p:spPr>
        <p:txBody>
          <a:bodyPr wrap="square" lIns="0" tIns="0" rIns="0" bIns="0" rtlCol="0" anchor="ctr"/>
          <a:lstStyle/>
          <a:p>
            <a:pPr indent="0" marL="0">
              <a:buNone/>
            </a:pPr>
            <a:r>
              <a:rPr lang="en-US" sz="1300" dirty="0">
                <a:solidFill>
                  <a:srgbClr val="9FB3C2"/>
                </a:solidFill>
                <a:latin typeface="Calibri" pitchFamily="34" charset="0"/>
                <a:ea typeface="Calibri" pitchFamily="34" charset="-122"/>
                <a:cs typeface="Calibri" pitchFamily="34" charset="-120"/>
              </a:rPr>
              <a:t>Highest-margin channel; every point of shift is margin-accretive.</a:t>
            </a:r>
            <a:endParaRPr lang="en-US" sz="1300" dirty="0"/>
          </a:p>
        </p:txBody>
      </p:sp>
      <p:sp>
        <p:nvSpPr>
          <p:cNvPr id="11" name="Text 9"/>
          <p:cNvSpPr/>
          <p:nvPr/>
        </p:nvSpPr>
        <p:spPr>
          <a:xfrm>
            <a:off x="685800" y="3310128"/>
            <a:ext cx="822960" cy="548640"/>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03</a:t>
            </a:r>
            <a:endParaRPr lang="en-US" sz="2600" dirty="0"/>
          </a:p>
        </p:txBody>
      </p:sp>
      <p:sp>
        <p:nvSpPr>
          <p:cNvPr id="12" name="Text 10"/>
          <p:cNvSpPr/>
          <p:nvPr/>
        </p:nvSpPr>
        <p:spPr>
          <a:xfrm>
            <a:off x="1600200" y="3291840"/>
            <a:ext cx="57607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Expand Walmart beyond 6 states</a:t>
            </a:r>
            <a:endParaRPr lang="en-US" sz="1700" dirty="0"/>
          </a:p>
        </p:txBody>
      </p:sp>
      <p:sp>
        <p:nvSpPr>
          <p:cNvPr id="13" name="Text 11"/>
          <p:cNvSpPr/>
          <p:nvPr/>
        </p:nvSpPr>
        <p:spPr>
          <a:xfrm>
            <a:off x="1600200" y="3657600"/>
            <a:ext cx="9692640" cy="365760"/>
          </a:xfrm>
          <a:prstGeom prst="rect">
            <a:avLst/>
          </a:prstGeom>
          <a:noFill/>
          <a:ln/>
        </p:spPr>
        <p:txBody>
          <a:bodyPr wrap="square" lIns="0" tIns="0" rIns="0" bIns="0" rtlCol="0" anchor="ctr"/>
          <a:lstStyle/>
          <a:p>
            <a:pPr indent="0" marL="0">
              <a:buNone/>
            </a:pPr>
            <a:r>
              <a:rPr lang="en-US" sz="1300" dirty="0">
                <a:solidFill>
                  <a:srgbClr val="9FB3C2"/>
                </a:solidFill>
                <a:latin typeface="Calibri" pitchFamily="34" charset="0"/>
                <a:ea typeface="Calibri" pitchFamily="34" charset="-122"/>
                <a:cs typeface="Calibri" pitchFamily="34" charset="-120"/>
              </a:rPr>
              <a:t>Biggest footprint, smallest RUSH revenue — clearest white space.</a:t>
            </a:r>
            <a:endParaRPr lang="en-US" sz="1300" dirty="0"/>
          </a:p>
        </p:txBody>
      </p:sp>
      <p:sp>
        <p:nvSpPr>
          <p:cNvPr id="14" name="Text 12"/>
          <p:cNvSpPr/>
          <p:nvPr/>
        </p:nvSpPr>
        <p:spPr>
          <a:xfrm>
            <a:off x="685800" y="4279392"/>
            <a:ext cx="822960" cy="548640"/>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04</a:t>
            </a:r>
            <a:endParaRPr lang="en-US" sz="2600" dirty="0"/>
          </a:p>
        </p:txBody>
      </p:sp>
      <p:sp>
        <p:nvSpPr>
          <p:cNvPr id="15" name="Text 13"/>
          <p:cNvSpPr/>
          <p:nvPr/>
        </p:nvSpPr>
        <p:spPr>
          <a:xfrm>
            <a:off x="1600200" y="4261104"/>
            <a:ext cx="57607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Plan 2022 on the 2021 seasonal curve</a:t>
            </a:r>
            <a:endParaRPr lang="en-US" sz="1700" dirty="0"/>
          </a:p>
        </p:txBody>
      </p:sp>
      <p:sp>
        <p:nvSpPr>
          <p:cNvPr id="16" name="Text 14"/>
          <p:cNvSpPr/>
          <p:nvPr/>
        </p:nvSpPr>
        <p:spPr>
          <a:xfrm>
            <a:off x="1600200" y="4626864"/>
            <a:ext cx="9692640" cy="365760"/>
          </a:xfrm>
          <a:prstGeom prst="rect">
            <a:avLst/>
          </a:prstGeom>
          <a:noFill/>
          <a:ln/>
        </p:spPr>
        <p:txBody>
          <a:bodyPr wrap="square" lIns="0" tIns="0" rIns="0" bIns="0" rtlCol="0" anchor="ctr"/>
          <a:lstStyle/>
          <a:p>
            <a:pPr indent="0" marL="0">
              <a:buNone/>
            </a:pPr>
            <a:r>
              <a:rPr lang="en-US" sz="1300" dirty="0">
                <a:solidFill>
                  <a:srgbClr val="9FB3C2"/>
                </a:solidFill>
                <a:latin typeface="Calibri" pitchFamily="34" charset="0"/>
                <a:ea typeface="Calibri" pitchFamily="34" charset="-122"/>
                <a:cs typeface="Calibri" pitchFamily="34" charset="-120"/>
              </a:rPr>
              <a:t>2020 was COVID-shaped; 2021 peaks in July and December.</a:t>
            </a:r>
            <a:endParaRPr lang="en-US" sz="1300" dirty="0"/>
          </a:p>
        </p:txBody>
      </p:sp>
      <p:sp>
        <p:nvSpPr>
          <p:cNvPr id="17" name="Text 15"/>
          <p:cNvSpPr/>
          <p:nvPr/>
        </p:nvSpPr>
        <p:spPr>
          <a:xfrm>
            <a:off x="685800" y="5248656"/>
            <a:ext cx="822960" cy="548640"/>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05</a:t>
            </a:r>
            <a:endParaRPr lang="en-US" sz="2600" dirty="0"/>
          </a:p>
        </p:txBody>
      </p:sp>
      <p:sp>
        <p:nvSpPr>
          <p:cNvPr id="18" name="Text 16"/>
          <p:cNvSpPr/>
          <p:nvPr/>
        </p:nvSpPr>
        <p:spPr>
          <a:xfrm>
            <a:off x="1600200" y="5230368"/>
            <a:ext cx="57607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Fix RETAILER_ID at the source</a:t>
            </a:r>
            <a:endParaRPr lang="en-US" sz="1700" dirty="0"/>
          </a:p>
        </p:txBody>
      </p:sp>
      <p:sp>
        <p:nvSpPr>
          <p:cNvPr id="19" name="Text 17"/>
          <p:cNvSpPr/>
          <p:nvPr/>
        </p:nvSpPr>
        <p:spPr>
          <a:xfrm>
            <a:off x="1600200" y="5596128"/>
            <a:ext cx="9692640" cy="365760"/>
          </a:xfrm>
          <a:prstGeom prst="rect">
            <a:avLst/>
          </a:prstGeom>
          <a:noFill/>
          <a:ln/>
        </p:spPr>
        <p:txBody>
          <a:bodyPr wrap="square" lIns="0" tIns="0" rIns="0" bIns="0" rtlCol="0" anchor="ctr"/>
          <a:lstStyle/>
          <a:p>
            <a:pPr indent="0" marL="0">
              <a:buNone/>
            </a:pPr>
            <a:r>
              <a:rPr lang="en-US" sz="1300" dirty="0">
                <a:solidFill>
                  <a:srgbClr val="9FB3C2"/>
                </a:solidFill>
                <a:latin typeface="Calibri" pitchFamily="34" charset="0"/>
                <a:ea typeface="Calibri" pitchFamily="34" charset="-122"/>
                <a:cs typeface="Calibri" pitchFamily="34" charset="-120"/>
              </a:rPr>
              <a:t>The key is not unique — 4 collisions today, more as we grow.</a:t>
            </a:r>
            <a:endParaRPr lang="en-US" sz="1300" dirty="0"/>
          </a:p>
        </p:txBody>
      </p:sp>
      <p:sp>
        <p:nvSpPr>
          <p:cNvPr id="20" name="Text 18"/>
          <p:cNvSpPr/>
          <p:nvPr/>
        </p:nvSpPr>
        <p:spPr>
          <a:xfrm>
            <a:off x="685800" y="6172200"/>
            <a:ext cx="10881360" cy="457200"/>
          </a:xfrm>
          <a:prstGeom prst="rect">
            <a:avLst/>
          </a:prstGeom>
          <a:noFill/>
          <a:ln/>
        </p:spPr>
        <p:txBody>
          <a:bodyPr wrap="square" lIns="0" tIns="0" rIns="0" bIns="0" rtlCol="0" anchor="ctr"/>
          <a:lstStyle/>
          <a:p>
            <a:pPr indent="0" marL="0">
              <a:buNone/>
            </a:pPr>
            <a:r>
              <a:rPr lang="en-US" sz="1000" i="1" dirty="0">
                <a:solidFill>
                  <a:srgbClr val="6E8898"/>
                </a:solidFill>
                <a:latin typeface="Calibri" pitchFamily="34" charset="0"/>
                <a:ea typeface="Calibri" pitchFamily="34" charset="-122"/>
                <a:cs typeface="Calibri" pitchFamily="34" charset="-120"/>
              </a:rPr>
              <a:t>Caveats: two years of data, one of them a pandemic year · revenue derived as price × units (no returns or discounts) · $2.26M of 2021 revenue sits under an ambiguous retailer key, which does not change any answer above.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RUSH US Sales Review — FY2021</dc:title>
  <dc:subject>PptxGenJS Presentation</dc:subject>
  <dc:creator>Ben</dc:creator>
  <cp:lastModifiedBy>Ben</cp:lastModifiedBy>
  <cp:revision>1</cp:revision>
  <dcterms:created xsi:type="dcterms:W3CDTF">2026-08-09T22:15:31Z</dcterms:created>
  <dcterms:modified xsi:type="dcterms:W3CDTF">2026-08-09T22:15:31Z</dcterms:modified>
</cp:coreProperties>
</file>